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974336" cy="82387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806440" y="2249424"/>
            <a:ext cx="8010144" cy="2039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010"/>
              </a:lnSpc>
              <a:buNone/>
            </a:pPr>
            <a:r>
              <a:rPr lang="en-US" sz="6410" dirty="0">
                <a:solidFill>
                  <a:srgbClr val="13614E"/>
                </a:solidFill>
                <a:latin typeface="思源宋体-Medium" pitchFamily="34" charset="0"/>
                <a:ea typeface="思源宋体-Medium" pitchFamily="34" charset="-122"/>
                <a:cs typeface="思源宋体-Medium" pitchFamily="34" charset="-120"/>
              </a:rPr>
              <a:t>HTTP Request Overview</a:t>
            </a:r>
            <a:endParaRPr lang="en-US" sz="6410" dirty="0"/>
          </a:p>
        </p:txBody>
      </p:sp>
      <p:sp>
        <p:nvSpPr>
          <p:cNvPr id="5" name="Text 1"/>
          <p:cNvSpPr/>
          <p:nvPr/>
        </p:nvSpPr>
        <p:spPr>
          <a:xfrm>
            <a:off x="5806440" y="4544568"/>
            <a:ext cx="80101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850" dirty="0">
                <a:solidFill>
                  <a:srgbClr val="696969"/>
                </a:solidFill>
                <a:latin typeface="思源宋体-Medium" pitchFamily="34" charset="0"/>
                <a:ea typeface="思源宋体-Medium" pitchFamily="34" charset="-122"/>
                <a:cs typeface="思源宋体-Medium" pitchFamily="34" charset="-120"/>
              </a:rPr>
              <a:t>HTTP requests are fundamental to web communication, enabling clients to request resources from servers. Understanding their structure, types, and best practices is crucial for effective web development and network management.</a:t>
            </a:r>
            <a:endParaRPr lang="en-US" sz="1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280720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32104" y="3456432"/>
            <a:ext cx="12984480" cy="7406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5800"/>
              </a:lnSpc>
              <a:buNone/>
            </a:pPr>
            <a:r>
              <a:rPr lang="en-US" sz="4640" dirty="0">
                <a:solidFill>
                  <a:srgbClr val="13614E"/>
                </a:solidFill>
                <a:latin typeface="思源宋体-Medium" pitchFamily="34" charset="0"/>
                <a:ea typeface="思源宋体-Medium" pitchFamily="34" charset="-122"/>
                <a:cs typeface="思源宋体-Medium" pitchFamily="34" charset="-120"/>
              </a:rPr>
              <a:t>Basics of HTTP</a:t>
            </a:r>
            <a:endParaRPr lang="en-US" sz="4640" dirty="0"/>
          </a:p>
        </p:txBody>
      </p:sp>
      <p:sp>
        <p:nvSpPr>
          <p:cNvPr id="5" name="Text 1"/>
          <p:cNvSpPr/>
          <p:nvPr/>
        </p:nvSpPr>
        <p:spPr>
          <a:xfrm>
            <a:off x="1078992" y="4590288"/>
            <a:ext cx="3831336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20" dirty="0">
                <a:solidFill>
                  <a:srgbClr val="696969"/>
                </a:solidFill>
                <a:latin typeface="思源宋体-Medium" pitchFamily="34" charset="0"/>
                <a:ea typeface="思源宋体-Medium" pitchFamily="34" charset="-122"/>
                <a:cs typeface="思源宋体-Medium" pitchFamily="34" charset="-120"/>
              </a:rPr>
              <a:t>What is HTTP?</a:t>
            </a:r>
            <a:endParaRPr lang="en-US" sz="2320" dirty="0"/>
          </a:p>
        </p:txBody>
      </p:sp>
      <p:sp>
        <p:nvSpPr>
          <p:cNvPr id="6" name="Text 2"/>
          <p:cNvSpPr/>
          <p:nvPr/>
        </p:nvSpPr>
        <p:spPr>
          <a:xfrm>
            <a:off x="9729216" y="4590288"/>
            <a:ext cx="3831336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20" dirty="0">
                <a:solidFill>
                  <a:srgbClr val="696969"/>
                </a:solidFill>
                <a:latin typeface="思源宋体-Medium" pitchFamily="34" charset="0"/>
                <a:ea typeface="思源宋体-Medium" pitchFamily="34" charset="-122"/>
                <a:cs typeface="思源宋体-Medium" pitchFamily="34" charset="-120"/>
              </a:rPr>
              <a:t>Request-Response Cycle</a:t>
            </a:r>
            <a:endParaRPr lang="en-US" sz="2320" dirty="0"/>
          </a:p>
        </p:txBody>
      </p:sp>
      <p:sp>
        <p:nvSpPr>
          <p:cNvPr id="7" name="Text 3"/>
          <p:cNvSpPr/>
          <p:nvPr/>
        </p:nvSpPr>
        <p:spPr>
          <a:xfrm>
            <a:off x="9729216" y="5102352"/>
            <a:ext cx="38313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850" dirty="0">
                <a:solidFill>
                  <a:srgbClr val="696969"/>
                </a:solidFill>
                <a:latin typeface="思源宋体-Medium" pitchFamily="34" charset="0"/>
                <a:ea typeface="思源宋体-Medium" pitchFamily="34" charset="-122"/>
                <a:cs typeface="思源宋体-Medium" pitchFamily="34" charset="-120"/>
              </a:rPr>
              <a:t>Every HTTP transaction follows a request-response model where the client requests resources, and the server returns data.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5404104" y="5102352"/>
            <a:ext cx="38313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850" dirty="0">
                <a:solidFill>
                  <a:srgbClr val="696969"/>
                </a:solidFill>
                <a:latin typeface="思源宋体-Medium" pitchFamily="34" charset="0"/>
                <a:ea typeface="思源宋体-Medium" pitchFamily="34" charset="-122"/>
                <a:cs typeface="思源宋体-Medium" pitchFamily="34" charset="-120"/>
              </a:rPr>
              <a:t>In HTTP, clients (like browsers) send requests to servers that host resources, leading to interaction.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1078992" y="5102352"/>
            <a:ext cx="3831336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850" dirty="0">
                <a:solidFill>
                  <a:srgbClr val="696969"/>
                </a:solidFill>
                <a:latin typeface="思源宋体-Medium" pitchFamily="34" charset="0"/>
                <a:ea typeface="思源宋体-Medium" pitchFamily="34" charset="-122"/>
                <a:cs typeface="思源宋体-Medium" pitchFamily="34" charset="-120"/>
              </a:rPr>
              <a:t>HTTP stands for HyperText Transfer Protocol, a protocol used for transmitting hypertext requests and information on the internet.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5404104" y="4590288"/>
            <a:ext cx="3831336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20" dirty="0">
                <a:solidFill>
                  <a:srgbClr val="696969"/>
                </a:solidFill>
                <a:latin typeface="思源宋体-Medium" pitchFamily="34" charset="0"/>
                <a:ea typeface="思源宋体-Medium" pitchFamily="34" charset="-122"/>
                <a:cs typeface="思源宋体-Medium" pitchFamily="34" charset="-120"/>
              </a:rPr>
              <a:t>Client-Server Model</a:t>
            </a:r>
            <a:endParaRPr lang="en-US" sz="23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974336" cy="8238744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5584" y="2350008"/>
            <a:ext cx="475488" cy="475488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5584" y="4041648"/>
            <a:ext cx="475488" cy="475488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5584" y="5733288"/>
            <a:ext cx="475488" cy="475488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5971032" y="2368296"/>
            <a:ext cx="173736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780"/>
              </a:lnSpc>
              <a:buNone/>
            </a:pPr>
            <a:r>
              <a:rPr lang="en-US" sz="2320" dirty="0">
                <a:solidFill>
                  <a:srgbClr val="121212"/>
                </a:solidFill>
                <a:latin typeface="思源宋体-Medium" pitchFamily="34" charset="0"/>
                <a:ea typeface="思源宋体-Medium" pitchFamily="34" charset="-122"/>
                <a:cs typeface="思源宋体-Medium" pitchFamily="34" charset="-120"/>
              </a:rPr>
              <a:t>1</a:t>
            </a:r>
            <a:endParaRPr lang="en-US" sz="2320" dirty="0"/>
          </a:p>
        </p:txBody>
      </p:sp>
      <p:sp>
        <p:nvSpPr>
          <p:cNvPr id="8" name="Text 1"/>
          <p:cNvSpPr/>
          <p:nvPr/>
        </p:nvSpPr>
        <p:spPr>
          <a:xfrm>
            <a:off x="6583680" y="2889504"/>
            <a:ext cx="72146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850" dirty="0">
                <a:solidFill>
                  <a:srgbClr val="696969"/>
                </a:solidFill>
                <a:latin typeface="思源宋体-Medium" pitchFamily="34" charset="0"/>
                <a:ea typeface="思源宋体-Medium" pitchFamily="34" charset="-122"/>
                <a:cs typeface="思源宋体-Medium" pitchFamily="34" charset="-120"/>
              </a:rPr>
              <a:t>This is the most common request method used to retrieve information from a server without modifying the resource.</a:t>
            </a:r>
            <a:endParaRPr lang="en-US" sz="1850" dirty="0"/>
          </a:p>
        </p:txBody>
      </p:sp>
      <p:sp>
        <p:nvSpPr>
          <p:cNvPr id="9" name="Text 2"/>
          <p:cNvSpPr/>
          <p:nvPr/>
        </p:nvSpPr>
        <p:spPr>
          <a:xfrm>
            <a:off x="6583680" y="4581144"/>
            <a:ext cx="72146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850" dirty="0">
                <a:solidFill>
                  <a:srgbClr val="696969"/>
                </a:solidFill>
                <a:latin typeface="思源宋体-Medium" pitchFamily="34" charset="0"/>
                <a:ea typeface="思源宋体-Medium" pitchFamily="34" charset="-122"/>
                <a:cs typeface="思源宋体-Medium" pitchFamily="34" charset="-120"/>
              </a:rPr>
              <a:t>Used to send data to the server for creating or updating resources, often in forms and APIs.</a:t>
            </a:r>
            <a:endParaRPr lang="en-US" sz="1850" dirty="0"/>
          </a:p>
        </p:txBody>
      </p:sp>
      <p:sp>
        <p:nvSpPr>
          <p:cNvPr id="10" name="Text 3"/>
          <p:cNvSpPr/>
          <p:nvPr/>
        </p:nvSpPr>
        <p:spPr>
          <a:xfrm>
            <a:off x="6583680" y="5760720"/>
            <a:ext cx="7214616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20" dirty="0">
                <a:solidFill>
                  <a:srgbClr val="696969"/>
                </a:solidFill>
                <a:latin typeface="思源宋体-Medium" pitchFamily="34" charset="0"/>
                <a:ea typeface="思源宋体-Medium" pitchFamily="34" charset="-122"/>
                <a:cs typeface="思源宋体-Medium" pitchFamily="34" charset="-120"/>
              </a:rPr>
              <a:t>PUT vs. DELETE</a:t>
            </a:r>
            <a:endParaRPr lang="en-US" sz="2320" dirty="0"/>
          </a:p>
        </p:txBody>
      </p:sp>
      <p:sp>
        <p:nvSpPr>
          <p:cNvPr id="11" name="Text 4"/>
          <p:cNvSpPr/>
          <p:nvPr/>
        </p:nvSpPr>
        <p:spPr>
          <a:xfrm>
            <a:off x="5971032" y="4059936"/>
            <a:ext cx="173736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780"/>
              </a:lnSpc>
              <a:buNone/>
            </a:pPr>
            <a:r>
              <a:rPr lang="en-US" sz="2320" dirty="0">
                <a:solidFill>
                  <a:srgbClr val="FFFFFF"/>
                </a:solidFill>
                <a:latin typeface="思源宋体-Medium" pitchFamily="34" charset="0"/>
                <a:ea typeface="思源宋体-Medium" pitchFamily="34" charset="-122"/>
                <a:cs typeface="思源宋体-Medium" pitchFamily="34" charset="-120"/>
              </a:rPr>
              <a:t>2</a:t>
            </a:r>
            <a:endParaRPr lang="en-US" sz="2320" dirty="0"/>
          </a:p>
        </p:txBody>
      </p:sp>
      <p:sp>
        <p:nvSpPr>
          <p:cNvPr id="12" name="Text 5"/>
          <p:cNvSpPr/>
          <p:nvPr/>
        </p:nvSpPr>
        <p:spPr>
          <a:xfrm>
            <a:off x="6583680" y="4069080"/>
            <a:ext cx="7214616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20" dirty="0">
                <a:solidFill>
                  <a:srgbClr val="696969"/>
                </a:solidFill>
                <a:latin typeface="思源宋体-Medium" pitchFamily="34" charset="0"/>
                <a:ea typeface="思源宋体-Medium" pitchFamily="34" charset="-122"/>
                <a:cs typeface="思源宋体-Medium" pitchFamily="34" charset="-120"/>
              </a:rPr>
              <a:t>POST Request</a:t>
            </a:r>
            <a:endParaRPr lang="en-US" sz="2320" dirty="0"/>
          </a:p>
        </p:txBody>
      </p:sp>
      <p:sp>
        <p:nvSpPr>
          <p:cNvPr id="13" name="Text 6"/>
          <p:cNvSpPr/>
          <p:nvPr/>
        </p:nvSpPr>
        <p:spPr>
          <a:xfrm>
            <a:off x="6583680" y="6272784"/>
            <a:ext cx="72146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850" dirty="0">
                <a:solidFill>
                  <a:srgbClr val="696969"/>
                </a:solidFill>
                <a:latin typeface="思源宋体-Medium" pitchFamily="34" charset="0"/>
                <a:ea typeface="思源宋体-Medium" pitchFamily="34" charset="-122"/>
                <a:cs typeface="思源宋体-Medium" pitchFamily="34" charset="-120"/>
              </a:rPr>
              <a:t>PUT requests replace or create a resource, while DELETE requests remove them from the server.</a:t>
            </a:r>
            <a:endParaRPr lang="en-US" sz="1850" dirty="0"/>
          </a:p>
        </p:txBody>
      </p:sp>
      <p:sp>
        <p:nvSpPr>
          <p:cNvPr id="14" name="Text 7"/>
          <p:cNvSpPr/>
          <p:nvPr/>
        </p:nvSpPr>
        <p:spPr>
          <a:xfrm>
            <a:off x="5806440" y="1097280"/>
            <a:ext cx="8010144" cy="7406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5800"/>
              </a:lnSpc>
              <a:buNone/>
            </a:pPr>
            <a:r>
              <a:rPr lang="en-US" sz="4640" dirty="0">
                <a:solidFill>
                  <a:srgbClr val="13614E"/>
                </a:solidFill>
                <a:latin typeface="思源宋体-Medium" pitchFamily="34" charset="0"/>
                <a:ea typeface="思源宋体-Medium" pitchFamily="34" charset="-122"/>
                <a:cs typeface="思源宋体-Medium" pitchFamily="34" charset="-120"/>
              </a:rPr>
              <a:t>Types of HTTP Requests</a:t>
            </a:r>
            <a:endParaRPr lang="en-US" sz="4640" dirty="0"/>
          </a:p>
        </p:txBody>
      </p:sp>
      <p:sp>
        <p:nvSpPr>
          <p:cNvPr id="15" name="Text 8"/>
          <p:cNvSpPr/>
          <p:nvPr/>
        </p:nvSpPr>
        <p:spPr>
          <a:xfrm>
            <a:off x="6583680" y="2377440"/>
            <a:ext cx="7214616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20" dirty="0">
                <a:solidFill>
                  <a:srgbClr val="696969"/>
                </a:solidFill>
                <a:latin typeface="思源宋体-Medium" pitchFamily="34" charset="0"/>
                <a:ea typeface="思源宋体-Medium" pitchFamily="34" charset="-122"/>
                <a:cs typeface="思源宋体-Medium" pitchFamily="34" charset="-120"/>
              </a:rPr>
              <a:t>GET Request</a:t>
            </a:r>
            <a:endParaRPr lang="en-US" sz="2320" dirty="0"/>
          </a:p>
        </p:txBody>
      </p:sp>
      <p:sp>
        <p:nvSpPr>
          <p:cNvPr id="16" name="Text 9"/>
          <p:cNvSpPr/>
          <p:nvPr/>
        </p:nvSpPr>
        <p:spPr>
          <a:xfrm>
            <a:off x="5971032" y="5751576"/>
            <a:ext cx="173736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780"/>
              </a:lnSpc>
              <a:buNone/>
            </a:pPr>
            <a:r>
              <a:rPr lang="en-US" sz="2320" dirty="0">
                <a:solidFill>
                  <a:srgbClr val="121212"/>
                </a:solidFill>
                <a:latin typeface="思源宋体-Medium" pitchFamily="34" charset="0"/>
                <a:ea typeface="思源宋体-Medium" pitchFamily="34" charset="-122"/>
                <a:cs typeface="思源宋体-Medium" pitchFamily="34" charset="-120"/>
              </a:rPr>
              <a:t>3</a:t>
            </a:r>
            <a:endParaRPr lang="en-US" sz="23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488" y="2350008"/>
            <a:ext cx="4544568" cy="4544568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2350008"/>
            <a:ext cx="4544568" cy="4544568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7488" y="2350008"/>
            <a:ext cx="4544568" cy="4544568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9710928" y="3419856"/>
            <a:ext cx="39867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850" dirty="0">
                <a:solidFill>
                  <a:srgbClr val="696969"/>
                </a:solidFill>
                <a:latin typeface="思源宋体-Medium" pitchFamily="34" charset="0"/>
                <a:ea typeface="思源宋体-Medium" pitchFamily="34" charset="-122"/>
                <a:cs typeface="思源宋体-Medium" pitchFamily="34" charset="-120"/>
              </a:rPr>
              <a:t>Provide additional context like content type and authorization.</a:t>
            </a:r>
            <a:endParaRPr lang="en-US" sz="1850" dirty="0"/>
          </a:p>
        </p:txBody>
      </p:sp>
      <p:sp>
        <p:nvSpPr>
          <p:cNvPr id="7" name="Text 1"/>
          <p:cNvSpPr/>
          <p:nvPr/>
        </p:nvSpPr>
        <p:spPr>
          <a:xfrm>
            <a:off x="950976" y="4014216"/>
            <a:ext cx="3511296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ts val="2900"/>
              </a:lnSpc>
              <a:buNone/>
            </a:pPr>
            <a:r>
              <a:rPr lang="en-US" sz="2320" dirty="0">
                <a:solidFill>
                  <a:srgbClr val="696969"/>
                </a:solidFill>
                <a:latin typeface="思源宋体-Medium" pitchFamily="34" charset="0"/>
                <a:ea typeface="思源宋体-Medium" pitchFamily="34" charset="-122"/>
                <a:cs typeface="思源宋体-Medium" pitchFamily="34" charset="-120"/>
              </a:rPr>
              <a:t>Request Line</a:t>
            </a:r>
            <a:endParaRPr lang="en-US" sz="2320" dirty="0"/>
          </a:p>
        </p:txBody>
      </p:sp>
      <p:sp>
        <p:nvSpPr>
          <p:cNvPr id="8" name="Text 2"/>
          <p:cNvSpPr/>
          <p:nvPr/>
        </p:nvSpPr>
        <p:spPr>
          <a:xfrm>
            <a:off x="9710928" y="5230368"/>
            <a:ext cx="3986784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20" dirty="0">
                <a:solidFill>
                  <a:srgbClr val="696969"/>
                </a:solidFill>
                <a:latin typeface="思源宋体-Medium" pitchFamily="34" charset="0"/>
                <a:ea typeface="思源宋体-Medium" pitchFamily="34" charset="-122"/>
                <a:cs typeface="思源宋体-Medium" pitchFamily="34" charset="-120"/>
              </a:rPr>
              <a:t>Body</a:t>
            </a:r>
            <a:endParaRPr lang="en-US" sz="2320" dirty="0"/>
          </a:p>
        </p:txBody>
      </p:sp>
      <p:sp>
        <p:nvSpPr>
          <p:cNvPr id="9" name="Text 3"/>
          <p:cNvSpPr/>
          <p:nvPr/>
        </p:nvSpPr>
        <p:spPr>
          <a:xfrm>
            <a:off x="950976" y="4645152"/>
            <a:ext cx="35112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2320"/>
              </a:lnSpc>
              <a:buNone/>
            </a:pPr>
            <a:r>
              <a:rPr lang="en-US" sz="1850" dirty="0">
                <a:solidFill>
                  <a:srgbClr val="696969"/>
                </a:solidFill>
                <a:latin typeface="思源宋体-Medium" pitchFamily="34" charset="0"/>
                <a:ea typeface="思源宋体-Medium" pitchFamily="34" charset="-122"/>
                <a:cs typeface="思源宋体-Medium" pitchFamily="34" charset="-120"/>
              </a:rPr>
              <a:t>Defines the method, resource URL, and HTTP version.</a:t>
            </a:r>
            <a:endParaRPr lang="en-US" sz="1850" dirty="0"/>
          </a:p>
        </p:txBody>
      </p:sp>
      <p:sp>
        <p:nvSpPr>
          <p:cNvPr id="10" name="Text 4"/>
          <p:cNvSpPr/>
          <p:nvPr/>
        </p:nvSpPr>
        <p:spPr>
          <a:xfrm>
            <a:off x="832104" y="1344168"/>
            <a:ext cx="12984480" cy="7406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5800"/>
              </a:lnSpc>
              <a:buNone/>
            </a:pPr>
            <a:r>
              <a:rPr lang="en-US" sz="4640" dirty="0">
                <a:solidFill>
                  <a:srgbClr val="13614E"/>
                </a:solidFill>
                <a:latin typeface="思源宋体-Medium" pitchFamily="34" charset="0"/>
                <a:ea typeface="思源宋体-Medium" pitchFamily="34" charset="-122"/>
                <a:cs typeface="思源宋体-Medium" pitchFamily="34" charset="-120"/>
              </a:rPr>
              <a:t>HTTP Request Structure</a:t>
            </a:r>
            <a:endParaRPr lang="en-US" sz="4640" dirty="0"/>
          </a:p>
        </p:txBody>
      </p:sp>
      <p:sp>
        <p:nvSpPr>
          <p:cNvPr id="11" name="Text 5"/>
          <p:cNvSpPr/>
          <p:nvPr/>
        </p:nvSpPr>
        <p:spPr>
          <a:xfrm>
            <a:off x="9710928" y="5870448"/>
            <a:ext cx="39867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850" dirty="0">
                <a:solidFill>
                  <a:srgbClr val="696969"/>
                </a:solidFill>
                <a:latin typeface="思源宋体-Medium" pitchFamily="34" charset="0"/>
                <a:ea typeface="思源宋体-Medium" pitchFamily="34" charset="-122"/>
                <a:cs typeface="思源宋体-Medium" pitchFamily="34" charset="-120"/>
              </a:rPr>
              <a:t>Contains data sent for methods like POST and PUT.</a:t>
            </a:r>
            <a:endParaRPr lang="en-US" sz="1850" dirty="0"/>
          </a:p>
        </p:txBody>
      </p:sp>
      <p:sp>
        <p:nvSpPr>
          <p:cNvPr id="12" name="Text 6"/>
          <p:cNvSpPr/>
          <p:nvPr/>
        </p:nvSpPr>
        <p:spPr>
          <a:xfrm>
            <a:off x="9710928" y="2788920"/>
            <a:ext cx="3986784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20" dirty="0">
                <a:solidFill>
                  <a:srgbClr val="696969"/>
                </a:solidFill>
                <a:latin typeface="思源宋体-Medium" pitchFamily="34" charset="0"/>
                <a:ea typeface="思源宋体-Medium" pitchFamily="34" charset="-122"/>
                <a:cs typeface="思源宋体-Medium" pitchFamily="34" charset="-120"/>
              </a:rPr>
              <a:t>Headers</a:t>
            </a:r>
            <a:endParaRPr lang="en-US" sz="2320" dirty="0"/>
          </a:p>
        </p:txBody>
      </p:sp>
      <p:sp>
        <p:nvSpPr>
          <p:cNvPr id="13" name="Text 7"/>
          <p:cNvSpPr/>
          <p:nvPr/>
        </p:nvSpPr>
        <p:spPr>
          <a:xfrm>
            <a:off x="7818120" y="5422392"/>
            <a:ext cx="173736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780"/>
              </a:lnSpc>
              <a:buNone/>
            </a:pPr>
            <a:r>
              <a:rPr lang="en-US" sz="2320" dirty="0">
                <a:solidFill>
                  <a:srgbClr val="121212"/>
                </a:solidFill>
                <a:latin typeface="思源宋体-Medium" pitchFamily="34" charset="0"/>
                <a:ea typeface="思源宋体-Medium" pitchFamily="34" charset="-122"/>
                <a:cs typeface="思源宋体-Medium" pitchFamily="34" charset="-120"/>
              </a:rPr>
              <a:t>3</a:t>
            </a:r>
            <a:endParaRPr lang="en-US" sz="2320" dirty="0"/>
          </a:p>
        </p:txBody>
      </p:sp>
      <p:sp>
        <p:nvSpPr>
          <p:cNvPr id="14" name="Text 8"/>
          <p:cNvSpPr/>
          <p:nvPr/>
        </p:nvSpPr>
        <p:spPr>
          <a:xfrm>
            <a:off x="6071616" y="4407408"/>
            <a:ext cx="173736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780"/>
              </a:lnSpc>
              <a:buNone/>
            </a:pPr>
            <a:r>
              <a:rPr lang="en-US" sz="2320" dirty="0">
                <a:solidFill>
                  <a:srgbClr val="121212"/>
                </a:solidFill>
                <a:latin typeface="思源宋体-Medium" pitchFamily="34" charset="0"/>
                <a:ea typeface="思源宋体-Medium" pitchFamily="34" charset="-122"/>
                <a:cs typeface="思源宋体-Medium" pitchFamily="34" charset="-120"/>
              </a:rPr>
              <a:t>1</a:t>
            </a:r>
            <a:endParaRPr lang="en-US" sz="2320" dirty="0"/>
          </a:p>
        </p:txBody>
      </p:sp>
      <p:sp>
        <p:nvSpPr>
          <p:cNvPr id="15" name="Text 9"/>
          <p:cNvSpPr/>
          <p:nvPr/>
        </p:nvSpPr>
        <p:spPr>
          <a:xfrm>
            <a:off x="7818120" y="3392424"/>
            <a:ext cx="173736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780"/>
              </a:lnSpc>
              <a:buNone/>
            </a:pPr>
            <a:r>
              <a:rPr lang="en-US" sz="2320" dirty="0">
                <a:solidFill>
                  <a:srgbClr val="FFFFFF"/>
                </a:solidFill>
                <a:latin typeface="思源宋体-Medium" pitchFamily="34" charset="0"/>
                <a:ea typeface="思源宋体-Medium" pitchFamily="34" charset="-122"/>
                <a:cs typeface="思源宋体-Medium" pitchFamily="34" charset="-120"/>
              </a:rPr>
              <a:t>2</a:t>
            </a:r>
            <a:endParaRPr lang="en-US" sz="23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6064" y="0"/>
            <a:ext cx="4974336" cy="8238744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792" y="3419856"/>
            <a:ext cx="2487168" cy="2889504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3592" y="3419856"/>
            <a:ext cx="2487168" cy="2889504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3419856"/>
            <a:ext cx="2487168" cy="2889504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3831336" y="3529584"/>
            <a:ext cx="2011680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320" dirty="0">
                <a:solidFill>
                  <a:srgbClr val="969696"/>
                </a:solidFill>
                <a:latin typeface="思源宋体-Medium" pitchFamily="34" charset="0"/>
                <a:ea typeface="思源宋体-Medium" pitchFamily="34" charset="-122"/>
                <a:cs typeface="思源宋体-Medium" pitchFamily="34" charset="-120"/>
              </a:rPr>
              <a:t>Accept</a:t>
            </a:r>
            <a:endParaRPr lang="en-US" sz="2320" dirty="0"/>
          </a:p>
        </p:txBody>
      </p:sp>
      <p:sp>
        <p:nvSpPr>
          <p:cNvPr id="8" name="Text 1"/>
          <p:cNvSpPr/>
          <p:nvPr/>
        </p:nvSpPr>
        <p:spPr>
          <a:xfrm>
            <a:off x="6574536" y="3529584"/>
            <a:ext cx="20116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320" dirty="0">
                <a:solidFill>
                  <a:srgbClr val="DEDEDE"/>
                </a:solidFill>
                <a:latin typeface="思源宋体-Medium" pitchFamily="34" charset="0"/>
                <a:ea typeface="思源宋体-Medium" pitchFamily="34" charset="-122"/>
                <a:cs typeface="思源宋体-Medium" pitchFamily="34" charset="-120"/>
              </a:rPr>
              <a:t>Authorization</a:t>
            </a:r>
            <a:endParaRPr lang="en-US" sz="2320" dirty="0"/>
          </a:p>
        </p:txBody>
      </p:sp>
      <p:sp>
        <p:nvSpPr>
          <p:cNvPr id="9" name="Text 2"/>
          <p:cNvSpPr/>
          <p:nvPr/>
        </p:nvSpPr>
        <p:spPr>
          <a:xfrm>
            <a:off x="3831336" y="4041648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320"/>
              </a:lnSpc>
              <a:buNone/>
            </a:pPr>
            <a:r>
              <a:rPr lang="en-US" sz="1850" dirty="0">
                <a:solidFill>
                  <a:srgbClr val="969696"/>
                </a:solidFill>
                <a:latin typeface="思源宋体-Medium" pitchFamily="34" charset="0"/>
                <a:ea typeface="思源宋体-Medium" pitchFamily="34" charset="-122"/>
                <a:cs typeface="思源宋体-Medium" pitchFamily="34" charset="-120"/>
              </a:rPr>
              <a:t>Indicates media types the client will accept in response.</a:t>
            </a:r>
            <a:endParaRPr lang="en-US" sz="1850" dirty="0"/>
          </a:p>
        </p:txBody>
      </p:sp>
      <p:sp>
        <p:nvSpPr>
          <p:cNvPr id="10" name="Text 3"/>
          <p:cNvSpPr/>
          <p:nvPr/>
        </p:nvSpPr>
        <p:spPr>
          <a:xfrm>
            <a:off x="1078992" y="3529584"/>
            <a:ext cx="2011680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320" dirty="0">
                <a:solidFill>
                  <a:srgbClr val="DEDEDE"/>
                </a:solidFill>
                <a:latin typeface="思源宋体-Medium" pitchFamily="34" charset="0"/>
                <a:ea typeface="思源宋体-Medium" pitchFamily="34" charset="-122"/>
                <a:cs typeface="思源宋体-Medium" pitchFamily="34" charset="-120"/>
              </a:rPr>
              <a:t>User-Agent</a:t>
            </a:r>
            <a:endParaRPr lang="en-US" sz="2320" dirty="0"/>
          </a:p>
        </p:txBody>
      </p:sp>
      <p:sp>
        <p:nvSpPr>
          <p:cNvPr id="11" name="Text 4"/>
          <p:cNvSpPr/>
          <p:nvPr/>
        </p:nvSpPr>
        <p:spPr>
          <a:xfrm>
            <a:off x="1078992" y="4041648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320"/>
              </a:lnSpc>
              <a:buNone/>
            </a:pPr>
            <a:r>
              <a:rPr lang="en-US" sz="1850" dirty="0">
                <a:solidFill>
                  <a:srgbClr val="DEDEDE"/>
                </a:solidFill>
                <a:latin typeface="思源宋体-Medium" pitchFamily="34" charset="0"/>
                <a:ea typeface="思源宋体-Medium" pitchFamily="34" charset="-122"/>
                <a:cs typeface="思源宋体-Medium" pitchFamily="34" charset="-120"/>
              </a:rPr>
              <a:t>Identifies the client software initiating the request.</a:t>
            </a:r>
            <a:endParaRPr lang="en-US" sz="1850" dirty="0"/>
          </a:p>
        </p:txBody>
      </p:sp>
      <p:sp>
        <p:nvSpPr>
          <p:cNvPr id="12" name="Text 5"/>
          <p:cNvSpPr/>
          <p:nvPr/>
        </p:nvSpPr>
        <p:spPr>
          <a:xfrm>
            <a:off x="832104" y="1664208"/>
            <a:ext cx="8010144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5800"/>
              </a:lnSpc>
              <a:buNone/>
            </a:pPr>
            <a:r>
              <a:rPr lang="en-US" sz="4640" dirty="0">
                <a:solidFill>
                  <a:srgbClr val="13614E"/>
                </a:solidFill>
                <a:latin typeface="思源宋体-Medium" pitchFamily="34" charset="0"/>
                <a:ea typeface="思源宋体-Medium" pitchFamily="34" charset="-122"/>
                <a:cs typeface="思源宋体-Medium" pitchFamily="34" charset="-120"/>
              </a:rPr>
              <a:t>Common Headers in HTTP Requests</a:t>
            </a:r>
            <a:endParaRPr lang="en-US" sz="4640" dirty="0"/>
          </a:p>
        </p:txBody>
      </p:sp>
      <p:sp>
        <p:nvSpPr>
          <p:cNvPr id="13" name="Text 6"/>
          <p:cNvSpPr/>
          <p:nvPr/>
        </p:nvSpPr>
        <p:spPr>
          <a:xfrm>
            <a:off x="6574536" y="4416552"/>
            <a:ext cx="2011680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320"/>
              </a:lnSpc>
              <a:buNone/>
            </a:pPr>
            <a:r>
              <a:rPr lang="en-US" sz="1850" dirty="0">
                <a:solidFill>
                  <a:srgbClr val="DEDEDE"/>
                </a:solidFill>
                <a:latin typeface="思源宋体-Medium" pitchFamily="34" charset="0"/>
                <a:ea typeface="思源宋体-Medium" pitchFamily="34" charset="-122"/>
                <a:cs typeface="思源宋体-Medium" pitchFamily="34" charset="-120"/>
              </a:rPr>
              <a:t>Sends credentials for client authentication, vital for secure access.</a:t>
            </a:r>
            <a:endParaRPr lang="en-US" sz="1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488" y="2715768"/>
            <a:ext cx="4544568" cy="4544568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2715768"/>
            <a:ext cx="4544568" cy="4544568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7488" y="2715768"/>
            <a:ext cx="4544568" cy="4544568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950976" y="4718304"/>
            <a:ext cx="35112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2320"/>
              </a:lnSpc>
              <a:buNone/>
            </a:pPr>
            <a:r>
              <a:rPr lang="en-US" sz="1850" dirty="0">
                <a:solidFill>
                  <a:srgbClr val="696969"/>
                </a:solidFill>
                <a:latin typeface="思源宋体-Medium" pitchFamily="34" charset="0"/>
                <a:ea typeface="思源宋体-Medium" pitchFamily="34" charset="-122"/>
                <a:cs typeface="思源宋体-Medium" pitchFamily="34" charset="-120"/>
              </a:rPr>
              <a:t>Every HTTP response includes a status code indicating the result of the request.</a:t>
            </a:r>
            <a:endParaRPr lang="en-US" sz="1850" dirty="0"/>
          </a:p>
        </p:txBody>
      </p:sp>
      <p:sp>
        <p:nvSpPr>
          <p:cNvPr id="7" name="Text 1"/>
          <p:cNvSpPr/>
          <p:nvPr/>
        </p:nvSpPr>
        <p:spPr>
          <a:xfrm>
            <a:off x="950976" y="4087368"/>
            <a:ext cx="3511296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ts val="2900"/>
              </a:lnSpc>
              <a:buNone/>
            </a:pPr>
            <a:r>
              <a:rPr lang="en-US" sz="2320" dirty="0">
                <a:solidFill>
                  <a:srgbClr val="696969"/>
                </a:solidFill>
                <a:latin typeface="思源宋体-Medium" pitchFamily="34" charset="0"/>
                <a:ea typeface="思源宋体-Medium" pitchFamily="34" charset="-122"/>
                <a:cs typeface="思源宋体-Medium" pitchFamily="34" charset="-120"/>
              </a:rPr>
              <a:t>Status Code Definition</a:t>
            </a:r>
            <a:endParaRPr lang="en-US" sz="2320" dirty="0"/>
          </a:p>
        </p:txBody>
      </p:sp>
      <p:sp>
        <p:nvSpPr>
          <p:cNvPr id="8" name="Text 2"/>
          <p:cNvSpPr/>
          <p:nvPr/>
        </p:nvSpPr>
        <p:spPr>
          <a:xfrm>
            <a:off x="9710928" y="3639312"/>
            <a:ext cx="398678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850" dirty="0">
                <a:solidFill>
                  <a:srgbClr val="696969"/>
                </a:solidFill>
                <a:latin typeface="思源宋体-Medium" pitchFamily="34" charset="0"/>
                <a:ea typeface="思源宋体-Medium" pitchFamily="34" charset="-122"/>
                <a:cs typeface="思源宋体-Medium" pitchFamily="34" charset="-120"/>
              </a:rPr>
              <a:t>An effective response provides relevant data, including error messages or success indications.</a:t>
            </a:r>
            <a:endParaRPr lang="en-US" sz="1850" dirty="0"/>
          </a:p>
        </p:txBody>
      </p:sp>
      <p:sp>
        <p:nvSpPr>
          <p:cNvPr id="9" name="Text 3"/>
          <p:cNvSpPr/>
          <p:nvPr/>
        </p:nvSpPr>
        <p:spPr>
          <a:xfrm>
            <a:off x="9710928" y="6089904"/>
            <a:ext cx="398678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850" dirty="0">
                <a:solidFill>
                  <a:srgbClr val="696969"/>
                </a:solidFill>
                <a:latin typeface="思源宋体-Medium" pitchFamily="34" charset="0"/>
                <a:ea typeface="思源宋体-Medium" pitchFamily="34" charset="-122"/>
                <a:cs typeface="思源宋体-Medium" pitchFamily="34" charset="-120"/>
              </a:rPr>
              <a:t>The response body contains data requested or error information, formatted for the client.</a:t>
            </a:r>
            <a:endParaRPr lang="en-US" sz="1850" dirty="0"/>
          </a:p>
        </p:txBody>
      </p:sp>
      <p:sp>
        <p:nvSpPr>
          <p:cNvPr id="10" name="Text 4"/>
          <p:cNvSpPr/>
          <p:nvPr/>
        </p:nvSpPr>
        <p:spPr>
          <a:xfrm>
            <a:off x="832104" y="978408"/>
            <a:ext cx="129844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5800"/>
              </a:lnSpc>
              <a:buNone/>
            </a:pPr>
            <a:r>
              <a:rPr lang="en-US" sz="4640" dirty="0">
                <a:solidFill>
                  <a:srgbClr val="13614E"/>
                </a:solidFill>
                <a:latin typeface="思源宋体-Medium" pitchFamily="34" charset="0"/>
                <a:ea typeface="思源宋体-Medium" pitchFamily="34" charset="-122"/>
                <a:cs typeface="思源宋体-Medium" pitchFamily="34" charset="-120"/>
              </a:rPr>
              <a:t>Understanding Status Codes and Their Importance</a:t>
            </a:r>
            <a:endParaRPr lang="en-US" sz="4640" dirty="0"/>
          </a:p>
        </p:txBody>
      </p:sp>
      <p:sp>
        <p:nvSpPr>
          <p:cNvPr id="11" name="Text 5"/>
          <p:cNvSpPr/>
          <p:nvPr/>
        </p:nvSpPr>
        <p:spPr>
          <a:xfrm>
            <a:off x="9710928" y="5458968"/>
            <a:ext cx="3986784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20" dirty="0">
                <a:solidFill>
                  <a:srgbClr val="696969"/>
                </a:solidFill>
                <a:latin typeface="思源宋体-Medium" pitchFamily="34" charset="0"/>
                <a:ea typeface="思源宋体-Medium" pitchFamily="34" charset="-122"/>
                <a:cs typeface="思源宋体-Medium" pitchFamily="34" charset="-120"/>
              </a:rPr>
              <a:t>Response Body Content</a:t>
            </a:r>
            <a:endParaRPr lang="en-US" sz="2320" dirty="0"/>
          </a:p>
        </p:txBody>
      </p:sp>
      <p:sp>
        <p:nvSpPr>
          <p:cNvPr id="12" name="Text 6"/>
          <p:cNvSpPr/>
          <p:nvPr/>
        </p:nvSpPr>
        <p:spPr>
          <a:xfrm>
            <a:off x="9710928" y="3008376"/>
            <a:ext cx="3986784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20" dirty="0">
                <a:solidFill>
                  <a:srgbClr val="696969"/>
                </a:solidFill>
                <a:latin typeface="思源宋体-Medium" pitchFamily="34" charset="0"/>
                <a:ea typeface="思源宋体-Medium" pitchFamily="34" charset="-122"/>
                <a:cs typeface="思源宋体-Medium" pitchFamily="34" charset="-120"/>
              </a:rPr>
              <a:t>Effective Response</a:t>
            </a:r>
            <a:endParaRPr lang="en-US" sz="2320" dirty="0"/>
          </a:p>
        </p:txBody>
      </p:sp>
      <p:sp>
        <p:nvSpPr>
          <p:cNvPr id="13" name="Text 7"/>
          <p:cNvSpPr/>
          <p:nvPr/>
        </p:nvSpPr>
        <p:spPr>
          <a:xfrm>
            <a:off x="8028432" y="3401568"/>
            <a:ext cx="173736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780"/>
              </a:lnSpc>
              <a:buNone/>
            </a:pPr>
            <a:r>
              <a:rPr lang="en-US" sz="2320" dirty="0">
                <a:solidFill>
                  <a:srgbClr val="FFFFFF"/>
                </a:solidFill>
                <a:latin typeface="思源宋体-Medium" pitchFamily="34" charset="0"/>
                <a:ea typeface="思源宋体-Medium" pitchFamily="34" charset="-122"/>
                <a:cs typeface="思源宋体-Medium" pitchFamily="34" charset="-120"/>
              </a:rPr>
              <a:t>2</a:t>
            </a:r>
            <a:endParaRPr lang="en-US" sz="2320" dirty="0"/>
          </a:p>
        </p:txBody>
      </p:sp>
      <p:sp>
        <p:nvSpPr>
          <p:cNvPr id="14" name="Text 8"/>
          <p:cNvSpPr/>
          <p:nvPr/>
        </p:nvSpPr>
        <p:spPr>
          <a:xfrm>
            <a:off x="8028432" y="6153912"/>
            <a:ext cx="173736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780"/>
              </a:lnSpc>
              <a:buNone/>
            </a:pPr>
            <a:r>
              <a:rPr lang="en-US" sz="2320" dirty="0">
                <a:solidFill>
                  <a:srgbClr val="121212"/>
                </a:solidFill>
                <a:latin typeface="思源宋体-Medium" pitchFamily="34" charset="0"/>
                <a:ea typeface="思源宋体-Medium" pitchFamily="34" charset="-122"/>
                <a:cs typeface="思源宋体-Medium" pitchFamily="34" charset="-120"/>
              </a:rPr>
              <a:t>3</a:t>
            </a:r>
            <a:endParaRPr lang="en-US" sz="2320" dirty="0"/>
          </a:p>
        </p:txBody>
      </p:sp>
      <p:sp>
        <p:nvSpPr>
          <p:cNvPr id="15" name="Text 9"/>
          <p:cNvSpPr/>
          <p:nvPr/>
        </p:nvSpPr>
        <p:spPr>
          <a:xfrm>
            <a:off x="5650992" y="4773168"/>
            <a:ext cx="173736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780"/>
              </a:lnSpc>
              <a:buNone/>
            </a:pPr>
            <a:r>
              <a:rPr lang="en-US" sz="2320" dirty="0">
                <a:solidFill>
                  <a:srgbClr val="121212"/>
                </a:solidFill>
                <a:latin typeface="思源宋体-Medium" pitchFamily="34" charset="0"/>
                <a:ea typeface="思源宋体-Medium" pitchFamily="34" charset="-122"/>
                <a:cs typeface="思源宋体-Medium" pitchFamily="34" charset="-120"/>
              </a:rPr>
              <a:t>1</a:t>
            </a:r>
            <a:endParaRPr lang="en-US" sz="23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916936"/>
            <a:ext cx="3831336" cy="2532888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4104" y="2916936"/>
            <a:ext cx="3831336" cy="2532888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48088" y="2916936"/>
            <a:ext cx="3831336" cy="2532888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960120" y="5669280"/>
            <a:ext cx="3831336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320" dirty="0">
                <a:solidFill>
                  <a:srgbClr val="696969"/>
                </a:solidFill>
                <a:latin typeface="思源宋体-Medium" pitchFamily="34" charset="0"/>
                <a:ea typeface="思源宋体-Medium" pitchFamily="34" charset="-122"/>
                <a:cs typeface="思源宋体-Medium" pitchFamily="34" charset="-120"/>
              </a:rPr>
              <a:t>Security Features</a:t>
            </a:r>
            <a:endParaRPr lang="en-US" sz="2320" dirty="0"/>
          </a:p>
        </p:txBody>
      </p:sp>
      <p:sp>
        <p:nvSpPr>
          <p:cNvPr id="7" name="Text 1"/>
          <p:cNvSpPr/>
          <p:nvPr/>
        </p:nvSpPr>
        <p:spPr>
          <a:xfrm>
            <a:off x="832104" y="1042416"/>
            <a:ext cx="129844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5800"/>
              </a:lnSpc>
              <a:buNone/>
            </a:pPr>
            <a:r>
              <a:rPr lang="en-US" sz="4640" dirty="0">
                <a:solidFill>
                  <a:srgbClr val="13614E"/>
                </a:solidFill>
                <a:latin typeface="思源宋体-Medium" pitchFamily="34" charset="0"/>
                <a:ea typeface="思源宋体-Medium" pitchFamily="34" charset="-122"/>
                <a:cs typeface="思源宋体-Medium" pitchFamily="34" charset="-120"/>
              </a:rPr>
              <a:t>HTTP vs HTTPS: Understanding the Differences</a:t>
            </a:r>
            <a:endParaRPr lang="en-US" sz="4640" dirty="0"/>
          </a:p>
        </p:txBody>
      </p:sp>
      <p:sp>
        <p:nvSpPr>
          <p:cNvPr id="8" name="Text 2"/>
          <p:cNvSpPr/>
          <p:nvPr/>
        </p:nvSpPr>
        <p:spPr>
          <a:xfrm>
            <a:off x="5404104" y="5669280"/>
            <a:ext cx="3831336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320" dirty="0">
                <a:solidFill>
                  <a:srgbClr val="696969"/>
                </a:solidFill>
                <a:latin typeface="思源宋体-Medium" pitchFamily="34" charset="0"/>
                <a:ea typeface="思源宋体-Medium" pitchFamily="34" charset="-122"/>
                <a:cs typeface="思源宋体-Medium" pitchFamily="34" charset="-120"/>
              </a:rPr>
              <a:t>Benefits of Using HTTPS</a:t>
            </a:r>
            <a:endParaRPr lang="en-US" sz="2320" dirty="0"/>
          </a:p>
        </p:txBody>
      </p:sp>
      <p:sp>
        <p:nvSpPr>
          <p:cNvPr id="9" name="Text 3"/>
          <p:cNvSpPr/>
          <p:nvPr/>
        </p:nvSpPr>
        <p:spPr>
          <a:xfrm>
            <a:off x="5404104" y="6181344"/>
            <a:ext cx="38313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320"/>
              </a:lnSpc>
              <a:buNone/>
            </a:pPr>
            <a:r>
              <a:rPr lang="en-US" sz="1850" dirty="0">
                <a:solidFill>
                  <a:srgbClr val="696969"/>
                </a:solidFill>
                <a:latin typeface="思源宋体-Medium" pitchFamily="34" charset="0"/>
                <a:ea typeface="思源宋体-Medium" pitchFamily="34" charset="-122"/>
                <a:cs typeface="思源宋体-Medium" pitchFamily="34" charset="-120"/>
              </a:rPr>
              <a:t>Increases user trust and improves SEO rankings.</a:t>
            </a:r>
            <a:endParaRPr lang="en-US" sz="1850" dirty="0"/>
          </a:p>
        </p:txBody>
      </p:sp>
      <p:sp>
        <p:nvSpPr>
          <p:cNvPr id="10" name="Text 4"/>
          <p:cNvSpPr/>
          <p:nvPr/>
        </p:nvSpPr>
        <p:spPr>
          <a:xfrm>
            <a:off x="9848088" y="5669280"/>
            <a:ext cx="3831336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320" dirty="0">
                <a:solidFill>
                  <a:srgbClr val="696969"/>
                </a:solidFill>
                <a:latin typeface="思源宋体-Medium" pitchFamily="34" charset="0"/>
                <a:ea typeface="思源宋体-Medium" pitchFamily="34" charset="-122"/>
                <a:cs typeface="思源宋体-Medium" pitchFamily="34" charset="-120"/>
              </a:rPr>
              <a:t>Transitioning to HTTPS</a:t>
            </a:r>
            <a:endParaRPr lang="en-US" sz="2320" dirty="0"/>
          </a:p>
        </p:txBody>
      </p:sp>
      <p:sp>
        <p:nvSpPr>
          <p:cNvPr id="11" name="Text 5"/>
          <p:cNvSpPr/>
          <p:nvPr/>
        </p:nvSpPr>
        <p:spPr>
          <a:xfrm>
            <a:off x="960120" y="6181344"/>
            <a:ext cx="38313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320"/>
              </a:lnSpc>
              <a:buNone/>
            </a:pPr>
            <a:r>
              <a:rPr lang="en-US" sz="1850" dirty="0">
                <a:solidFill>
                  <a:srgbClr val="696969"/>
                </a:solidFill>
                <a:latin typeface="思源宋体-Medium" pitchFamily="34" charset="0"/>
                <a:ea typeface="思源宋体-Medium" pitchFamily="34" charset="-122"/>
                <a:cs typeface="思源宋体-Medium" pitchFamily="34" charset="-120"/>
              </a:rPr>
              <a:t>HTTPS encrypts data through SSL/TLS, enhancing security.</a:t>
            </a:r>
            <a:endParaRPr lang="en-US" sz="1850" dirty="0"/>
          </a:p>
        </p:txBody>
      </p:sp>
      <p:sp>
        <p:nvSpPr>
          <p:cNvPr id="12" name="Text 6"/>
          <p:cNvSpPr/>
          <p:nvPr/>
        </p:nvSpPr>
        <p:spPr>
          <a:xfrm>
            <a:off x="9848088" y="6181344"/>
            <a:ext cx="383133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320"/>
              </a:lnSpc>
              <a:buNone/>
            </a:pPr>
            <a:r>
              <a:rPr lang="en-US" sz="1850" dirty="0">
                <a:solidFill>
                  <a:srgbClr val="696969"/>
                </a:solidFill>
                <a:latin typeface="思源宋体-Medium" pitchFamily="34" charset="0"/>
                <a:ea typeface="思源宋体-Medium" pitchFamily="34" charset="-122"/>
                <a:cs typeface="思源宋体-Medium" pitchFamily="34" charset="-120"/>
              </a:rPr>
              <a:t>Websites should migrate to HTTPS for modern security and compliance.</a:t>
            </a:r>
            <a:endParaRPr lang="en-US" sz="1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488" y="2350008"/>
            <a:ext cx="4544568" cy="4544568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2350008"/>
            <a:ext cx="4544568" cy="4544568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7488" y="2350008"/>
            <a:ext cx="4544568" cy="4544568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9710928" y="5696712"/>
            <a:ext cx="3986784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850" dirty="0">
                <a:solidFill>
                  <a:srgbClr val="696969"/>
                </a:solidFill>
                <a:latin typeface="思源宋体-Medium" pitchFamily="34" charset="0"/>
                <a:ea typeface="思源宋体-Medium" pitchFamily="34" charset="-122"/>
                <a:cs typeface="思源宋体-Medium" pitchFamily="34" charset="-120"/>
              </a:rPr>
              <a:t>Implement robust error handling by checking status codes and taking action based on outcomes, improving user experience during failures.</a:t>
            </a:r>
            <a:endParaRPr lang="en-US" sz="1850" dirty="0"/>
          </a:p>
        </p:txBody>
      </p:sp>
      <p:sp>
        <p:nvSpPr>
          <p:cNvPr id="7" name="Text 1"/>
          <p:cNvSpPr/>
          <p:nvPr/>
        </p:nvSpPr>
        <p:spPr>
          <a:xfrm>
            <a:off x="950976" y="3383280"/>
            <a:ext cx="351129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2900"/>
              </a:lnSpc>
              <a:buNone/>
            </a:pPr>
            <a:r>
              <a:rPr lang="en-US" sz="2320" dirty="0">
                <a:solidFill>
                  <a:srgbClr val="696969"/>
                </a:solidFill>
                <a:latin typeface="思源宋体-Medium" pitchFamily="34" charset="0"/>
                <a:ea typeface="思源宋体-Medium" pitchFamily="34" charset="-122"/>
                <a:cs typeface="思源宋体-Medium" pitchFamily="34" charset="-120"/>
              </a:rPr>
              <a:t>Use Appropriate Methods</a:t>
            </a:r>
            <a:endParaRPr lang="en-US" sz="2320" dirty="0"/>
          </a:p>
        </p:txBody>
      </p:sp>
      <p:sp>
        <p:nvSpPr>
          <p:cNvPr id="8" name="Text 2"/>
          <p:cNvSpPr/>
          <p:nvPr/>
        </p:nvSpPr>
        <p:spPr>
          <a:xfrm>
            <a:off x="832104" y="804672"/>
            <a:ext cx="12984480" cy="7406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5800"/>
              </a:lnSpc>
              <a:buNone/>
            </a:pPr>
            <a:r>
              <a:rPr lang="en-US" sz="4640" dirty="0">
                <a:solidFill>
                  <a:srgbClr val="13614E"/>
                </a:solidFill>
                <a:latin typeface="思源宋体-Medium" pitchFamily="34" charset="0"/>
                <a:ea typeface="思源宋体-Medium" pitchFamily="34" charset="-122"/>
                <a:cs typeface="思源宋体-Medium" pitchFamily="34" charset="-120"/>
              </a:rPr>
              <a:t>Best Practices for HTTP Requests</a:t>
            </a:r>
            <a:endParaRPr lang="en-US" sz="4640" dirty="0"/>
          </a:p>
        </p:txBody>
      </p:sp>
      <p:sp>
        <p:nvSpPr>
          <p:cNvPr id="9" name="Text 3"/>
          <p:cNvSpPr/>
          <p:nvPr/>
        </p:nvSpPr>
        <p:spPr>
          <a:xfrm>
            <a:off x="9710928" y="2066544"/>
            <a:ext cx="3986784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20" dirty="0">
                <a:solidFill>
                  <a:srgbClr val="696969"/>
                </a:solidFill>
                <a:latin typeface="思源宋体-Medium" pitchFamily="34" charset="0"/>
                <a:ea typeface="思源宋体-Medium" pitchFamily="34" charset="-122"/>
                <a:cs typeface="思源宋体-Medium" pitchFamily="34" charset="-120"/>
              </a:rPr>
              <a:t>Optimize Headers</a:t>
            </a:r>
            <a:endParaRPr lang="en-US" sz="2320" dirty="0"/>
          </a:p>
        </p:txBody>
      </p:sp>
      <p:sp>
        <p:nvSpPr>
          <p:cNvPr id="10" name="Text 4"/>
          <p:cNvSpPr/>
          <p:nvPr/>
        </p:nvSpPr>
        <p:spPr>
          <a:xfrm>
            <a:off x="9710928" y="2706624"/>
            <a:ext cx="3986784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850" dirty="0">
                <a:solidFill>
                  <a:srgbClr val="696969"/>
                </a:solidFill>
                <a:latin typeface="思源宋体-Medium" pitchFamily="34" charset="0"/>
                <a:ea typeface="思源宋体-Medium" pitchFamily="34" charset="-122"/>
                <a:cs typeface="思源宋体-Medium" pitchFamily="34" charset="-120"/>
              </a:rPr>
              <a:t>Ensure necessary and minimal headers are included; this reduces overhead and improves performance while providing required client-server context.</a:t>
            </a:r>
            <a:endParaRPr lang="en-US" sz="1850" dirty="0"/>
          </a:p>
        </p:txBody>
      </p:sp>
      <p:sp>
        <p:nvSpPr>
          <p:cNvPr id="11" name="Text 5"/>
          <p:cNvSpPr/>
          <p:nvPr/>
        </p:nvSpPr>
        <p:spPr>
          <a:xfrm>
            <a:off x="9710928" y="5065776"/>
            <a:ext cx="3986784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20" dirty="0">
                <a:solidFill>
                  <a:srgbClr val="696969"/>
                </a:solidFill>
                <a:latin typeface="思源宋体-Medium" pitchFamily="34" charset="0"/>
                <a:ea typeface="思源宋体-Medium" pitchFamily="34" charset="-122"/>
                <a:cs typeface="思源宋体-Medium" pitchFamily="34" charset="-120"/>
              </a:rPr>
              <a:t>Error Handling</a:t>
            </a:r>
            <a:endParaRPr lang="en-US" sz="2320" dirty="0"/>
          </a:p>
        </p:txBody>
      </p:sp>
      <p:sp>
        <p:nvSpPr>
          <p:cNvPr id="12" name="Text 6"/>
          <p:cNvSpPr/>
          <p:nvPr/>
        </p:nvSpPr>
        <p:spPr>
          <a:xfrm>
            <a:off x="950976" y="4389120"/>
            <a:ext cx="3511296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2320"/>
              </a:lnSpc>
              <a:buNone/>
            </a:pPr>
            <a:r>
              <a:rPr lang="en-US" sz="1850" dirty="0">
                <a:solidFill>
                  <a:srgbClr val="696969"/>
                </a:solidFill>
                <a:latin typeface="思源宋体-Medium" pitchFamily="34" charset="0"/>
                <a:ea typeface="思源宋体-Medium" pitchFamily="34" charset="-122"/>
                <a:cs typeface="思源宋体-Medium" pitchFamily="34" charset="-120"/>
              </a:rPr>
              <a:t>Choosing the correct HTTP method for your request is vital for proper RESTful API behavior and data manipulation.</a:t>
            </a:r>
            <a:endParaRPr lang="en-US" sz="1850" dirty="0"/>
          </a:p>
        </p:txBody>
      </p:sp>
      <p:sp>
        <p:nvSpPr>
          <p:cNvPr id="13" name="Text 7"/>
          <p:cNvSpPr/>
          <p:nvPr/>
        </p:nvSpPr>
        <p:spPr>
          <a:xfrm>
            <a:off x="8257032" y="3182112"/>
            <a:ext cx="173736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780"/>
              </a:lnSpc>
              <a:buNone/>
            </a:pPr>
            <a:r>
              <a:rPr lang="en-US" sz="2320" dirty="0">
                <a:solidFill>
                  <a:srgbClr val="FFFFFF"/>
                </a:solidFill>
                <a:latin typeface="思源宋体-Medium" pitchFamily="34" charset="0"/>
                <a:ea typeface="思源宋体-Medium" pitchFamily="34" charset="-122"/>
                <a:cs typeface="思源宋体-Medium" pitchFamily="34" charset="-120"/>
              </a:rPr>
              <a:t>2</a:t>
            </a:r>
            <a:endParaRPr lang="en-US" sz="2320" dirty="0"/>
          </a:p>
        </p:txBody>
      </p:sp>
      <p:sp>
        <p:nvSpPr>
          <p:cNvPr id="14" name="Text 8"/>
          <p:cNvSpPr/>
          <p:nvPr/>
        </p:nvSpPr>
        <p:spPr>
          <a:xfrm>
            <a:off x="5669280" y="4133088"/>
            <a:ext cx="173736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780"/>
              </a:lnSpc>
              <a:buNone/>
            </a:pPr>
            <a:r>
              <a:rPr lang="en-US" sz="2320" dirty="0">
                <a:solidFill>
                  <a:srgbClr val="121212"/>
                </a:solidFill>
                <a:latin typeface="思源宋体-Medium" pitchFamily="34" charset="0"/>
                <a:ea typeface="思源宋体-Medium" pitchFamily="34" charset="-122"/>
                <a:cs typeface="思源宋体-Medium" pitchFamily="34" charset="-120"/>
              </a:rPr>
              <a:t>1</a:t>
            </a:r>
            <a:endParaRPr lang="en-US" sz="2320" dirty="0"/>
          </a:p>
        </p:txBody>
      </p:sp>
      <p:sp>
        <p:nvSpPr>
          <p:cNvPr id="15" name="Text 9"/>
          <p:cNvSpPr/>
          <p:nvPr/>
        </p:nvSpPr>
        <p:spPr>
          <a:xfrm>
            <a:off x="7781544" y="5897880"/>
            <a:ext cx="173736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780"/>
              </a:lnSpc>
              <a:buNone/>
            </a:pPr>
            <a:r>
              <a:rPr lang="en-US" sz="2320" dirty="0">
                <a:solidFill>
                  <a:srgbClr val="121212"/>
                </a:solidFill>
                <a:latin typeface="思源宋体-Medium" pitchFamily="34" charset="0"/>
                <a:ea typeface="思源宋体-Medium" pitchFamily="34" charset="-122"/>
                <a:cs typeface="思源宋体-Medium" pitchFamily="34" charset="-120"/>
              </a:rPr>
              <a:t>3</a:t>
            </a:r>
            <a:endParaRPr lang="en-US" sz="23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8272" y="3236976"/>
            <a:ext cx="1152144" cy="1152144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1448" y="3236976"/>
            <a:ext cx="868680" cy="1152144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65408" y="3236976"/>
            <a:ext cx="1005840" cy="1152144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5404104" y="4617720"/>
            <a:ext cx="3831336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320" dirty="0">
                <a:solidFill>
                  <a:srgbClr val="696969"/>
                </a:solidFill>
                <a:latin typeface="思源宋体-Medium" pitchFamily="34" charset="0"/>
                <a:ea typeface="思源宋体-Medium" pitchFamily="34" charset="-122"/>
                <a:cs typeface="思源宋体-Medium" pitchFamily="34" charset="-120"/>
              </a:rPr>
              <a:t>Postman</a:t>
            </a:r>
            <a:endParaRPr lang="en-US" sz="2320" dirty="0"/>
          </a:p>
        </p:txBody>
      </p:sp>
      <p:sp>
        <p:nvSpPr>
          <p:cNvPr id="7" name="Text 1"/>
          <p:cNvSpPr/>
          <p:nvPr/>
        </p:nvSpPr>
        <p:spPr>
          <a:xfrm>
            <a:off x="9848088" y="5129784"/>
            <a:ext cx="383133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320"/>
              </a:lnSpc>
              <a:buNone/>
            </a:pPr>
            <a:r>
              <a:rPr lang="en-US" sz="1850" dirty="0">
                <a:solidFill>
                  <a:srgbClr val="696969"/>
                </a:solidFill>
                <a:latin typeface="思源宋体-Medium" pitchFamily="34" charset="0"/>
                <a:ea typeface="思源宋体-Medium" pitchFamily="34" charset="-122"/>
                <a:cs typeface="思源宋体-Medium" pitchFamily="34" charset="-120"/>
              </a:rPr>
              <a:t>A command-line tool for transferring data and testing APIs.</a:t>
            </a:r>
            <a:endParaRPr lang="en-US" sz="1850" dirty="0"/>
          </a:p>
        </p:txBody>
      </p:sp>
      <p:sp>
        <p:nvSpPr>
          <p:cNvPr id="8" name="Text 2"/>
          <p:cNvSpPr/>
          <p:nvPr/>
        </p:nvSpPr>
        <p:spPr>
          <a:xfrm>
            <a:off x="9848088" y="4617720"/>
            <a:ext cx="3831336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320" dirty="0">
                <a:solidFill>
                  <a:srgbClr val="696969"/>
                </a:solidFill>
                <a:latin typeface="思源宋体-Medium" pitchFamily="34" charset="0"/>
                <a:ea typeface="思源宋体-Medium" pitchFamily="34" charset="-122"/>
                <a:cs typeface="思源宋体-Medium" pitchFamily="34" charset="-120"/>
              </a:rPr>
              <a:t>cURL</a:t>
            </a:r>
            <a:endParaRPr lang="en-US" sz="2320" dirty="0"/>
          </a:p>
        </p:txBody>
      </p:sp>
      <p:sp>
        <p:nvSpPr>
          <p:cNvPr id="9" name="Text 3"/>
          <p:cNvSpPr/>
          <p:nvPr/>
        </p:nvSpPr>
        <p:spPr>
          <a:xfrm>
            <a:off x="5404104" y="5129784"/>
            <a:ext cx="383133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320"/>
              </a:lnSpc>
              <a:buNone/>
            </a:pPr>
            <a:r>
              <a:rPr lang="en-US" sz="1850" dirty="0">
                <a:solidFill>
                  <a:srgbClr val="696969"/>
                </a:solidFill>
                <a:latin typeface="思源宋体-Medium" pitchFamily="34" charset="0"/>
                <a:ea typeface="思源宋体-Medium" pitchFamily="34" charset="-122"/>
                <a:cs typeface="思源宋体-Medium" pitchFamily="34" charset="-120"/>
              </a:rPr>
              <a:t>A tool for building and testing API requests, streamlining workflows.</a:t>
            </a:r>
            <a:endParaRPr lang="en-US" sz="1850" dirty="0"/>
          </a:p>
        </p:txBody>
      </p:sp>
      <p:sp>
        <p:nvSpPr>
          <p:cNvPr id="10" name="Text 4"/>
          <p:cNvSpPr/>
          <p:nvPr/>
        </p:nvSpPr>
        <p:spPr>
          <a:xfrm>
            <a:off x="960120" y="4617720"/>
            <a:ext cx="3831336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320" dirty="0">
                <a:solidFill>
                  <a:srgbClr val="696969"/>
                </a:solidFill>
                <a:latin typeface="思源宋体-Medium" pitchFamily="34" charset="0"/>
                <a:ea typeface="思源宋体-Medium" pitchFamily="34" charset="-122"/>
                <a:cs typeface="思源宋体-Medium" pitchFamily="34" charset="-120"/>
              </a:rPr>
              <a:t>Browser Developer Tools</a:t>
            </a:r>
            <a:endParaRPr lang="en-US" sz="2320" dirty="0"/>
          </a:p>
        </p:txBody>
      </p:sp>
      <p:sp>
        <p:nvSpPr>
          <p:cNvPr id="11" name="Text 5"/>
          <p:cNvSpPr/>
          <p:nvPr/>
        </p:nvSpPr>
        <p:spPr>
          <a:xfrm>
            <a:off x="832104" y="2093976"/>
            <a:ext cx="12984480" cy="7406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5800"/>
              </a:lnSpc>
              <a:buNone/>
            </a:pPr>
            <a:r>
              <a:rPr lang="en-US" sz="4640" dirty="0">
                <a:solidFill>
                  <a:srgbClr val="13614E"/>
                </a:solidFill>
                <a:latin typeface="思源宋体-Medium" pitchFamily="34" charset="0"/>
                <a:ea typeface="思源宋体-Medium" pitchFamily="34" charset="-122"/>
                <a:cs typeface="思源宋体-Medium" pitchFamily="34" charset="-120"/>
              </a:rPr>
              <a:t>Tools for Monitoring HTTP Requests</a:t>
            </a:r>
            <a:endParaRPr lang="en-US" sz="4640" dirty="0"/>
          </a:p>
        </p:txBody>
      </p:sp>
      <p:sp>
        <p:nvSpPr>
          <p:cNvPr id="12" name="Text 6"/>
          <p:cNvSpPr/>
          <p:nvPr/>
        </p:nvSpPr>
        <p:spPr>
          <a:xfrm>
            <a:off x="960120" y="5129784"/>
            <a:ext cx="383133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320"/>
              </a:lnSpc>
              <a:buNone/>
            </a:pPr>
            <a:r>
              <a:rPr lang="en-US" sz="1850" dirty="0">
                <a:solidFill>
                  <a:srgbClr val="696969"/>
                </a:solidFill>
                <a:latin typeface="思源宋体-Medium" pitchFamily="34" charset="0"/>
                <a:ea typeface="思源宋体-Medium" pitchFamily="34" charset="-122"/>
                <a:cs typeface="思源宋体-Medium" pitchFamily="34" charset="-120"/>
              </a:rPr>
              <a:t>Built-in tools for inspecting requests and analyzing performance.</a:t>
            </a:r>
            <a:endParaRPr lang="en-US" sz="1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9015984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4471416"/>
            <a:ext cx="7790688" cy="7790688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4471416"/>
            <a:ext cx="7790688" cy="7790688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4471416"/>
            <a:ext cx="7790688" cy="7790688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832104" y="649224"/>
            <a:ext cx="12984480" cy="7406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5800"/>
              </a:lnSpc>
              <a:buNone/>
            </a:pPr>
            <a:r>
              <a:rPr lang="en-US" sz="4640" dirty="0">
                <a:solidFill>
                  <a:srgbClr val="13614E"/>
                </a:solidFill>
                <a:latin typeface="思源宋体-Medium" pitchFamily="34" charset="0"/>
                <a:ea typeface="思源宋体-Medium" pitchFamily="34" charset="-122"/>
                <a:cs typeface="思源宋体-Medium" pitchFamily="34" charset="-120"/>
              </a:rPr>
              <a:t>Conclusion</a:t>
            </a:r>
            <a:endParaRPr lang="en-US" sz="4640" dirty="0"/>
          </a:p>
        </p:txBody>
      </p:sp>
      <p:sp>
        <p:nvSpPr>
          <p:cNvPr id="7" name="Text 1"/>
          <p:cNvSpPr/>
          <p:nvPr/>
        </p:nvSpPr>
        <p:spPr>
          <a:xfrm>
            <a:off x="950976" y="2724912"/>
            <a:ext cx="385876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320" dirty="0">
                <a:solidFill>
                  <a:srgbClr val="696969"/>
                </a:solidFill>
                <a:latin typeface="思源宋体-Medium" pitchFamily="34" charset="0"/>
                <a:ea typeface="思源宋体-Medium" pitchFamily="34" charset="-122"/>
                <a:cs typeface="思源宋体-Medium" pitchFamily="34" charset="-120"/>
              </a:rPr>
              <a:t>The Role of HTTP Requests</a:t>
            </a:r>
            <a:endParaRPr lang="en-US" sz="2320" dirty="0"/>
          </a:p>
        </p:txBody>
      </p:sp>
      <p:sp>
        <p:nvSpPr>
          <p:cNvPr id="8" name="Text 2"/>
          <p:cNvSpPr/>
          <p:nvPr/>
        </p:nvSpPr>
        <p:spPr>
          <a:xfrm>
            <a:off x="5394960" y="1920240"/>
            <a:ext cx="3858768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320" dirty="0">
                <a:solidFill>
                  <a:srgbClr val="696969"/>
                </a:solidFill>
                <a:latin typeface="思源宋体-Medium" pitchFamily="34" charset="0"/>
                <a:ea typeface="思源宋体-Medium" pitchFamily="34" charset="-122"/>
                <a:cs typeface="思源宋体-Medium" pitchFamily="34" charset="-120"/>
              </a:rPr>
              <a:t>Continuous Learning</a:t>
            </a:r>
            <a:endParaRPr lang="en-US" sz="2320" dirty="0"/>
          </a:p>
        </p:txBody>
      </p:sp>
      <p:sp>
        <p:nvSpPr>
          <p:cNvPr id="9" name="Text 3"/>
          <p:cNvSpPr/>
          <p:nvPr/>
        </p:nvSpPr>
        <p:spPr>
          <a:xfrm>
            <a:off x="9838944" y="3721608"/>
            <a:ext cx="38587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320"/>
              </a:lnSpc>
              <a:buNone/>
            </a:pPr>
            <a:r>
              <a:rPr lang="en-US" sz="1850" dirty="0">
                <a:solidFill>
                  <a:srgbClr val="696969"/>
                </a:solidFill>
                <a:latin typeface="思源宋体-Medium" pitchFamily="34" charset="0"/>
                <a:ea typeface="思源宋体-Medium" pitchFamily="34" charset="-122"/>
                <a:cs typeface="思源宋体-Medium" pitchFamily="34" charset="-120"/>
              </a:rPr>
              <a:t>Regular practice with creating, sending, and analyzing HTTP requests is vital for mastering web programming.</a:t>
            </a:r>
            <a:endParaRPr lang="en-US" sz="1850" dirty="0"/>
          </a:p>
        </p:txBody>
      </p:sp>
      <p:sp>
        <p:nvSpPr>
          <p:cNvPr id="10" name="Text 4"/>
          <p:cNvSpPr/>
          <p:nvPr/>
        </p:nvSpPr>
        <p:spPr>
          <a:xfrm>
            <a:off x="950976" y="3721608"/>
            <a:ext cx="38587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320"/>
              </a:lnSpc>
              <a:buNone/>
            </a:pPr>
            <a:r>
              <a:rPr lang="en-US" sz="1850" dirty="0">
                <a:solidFill>
                  <a:srgbClr val="696969"/>
                </a:solidFill>
                <a:latin typeface="思源宋体-Medium" pitchFamily="34" charset="0"/>
                <a:ea typeface="思源宋体-Medium" pitchFamily="34" charset="-122"/>
                <a:cs typeface="思源宋体-Medium" pitchFamily="34" charset="-120"/>
              </a:rPr>
              <a:t>Understanding HTTP requests is essential for developing and maintaining web applications effectively.</a:t>
            </a:r>
            <a:endParaRPr lang="en-US" sz="1850" dirty="0"/>
          </a:p>
        </p:txBody>
      </p:sp>
      <p:sp>
        <p:nvSpPr>
          <p:cNvPr id="11" name="Text 5"/>
          <p:cNvSpPr/>
          <p:nvPr/>
        </p:nvSpPr>
        <p:spPr>
          <a:xfrm>
            <a:off x="9838944" y="3090672"/>
            <a:ext cx="3858768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320" dirty="0">
                <a:solidFill>
                  <a:srgbClr val="696969"/>
                </a:solidFill>
                <a:latin typeface="思源宋体-Medium" pitchFamily="34" charset="0"/>
                <a:ea typeface="思源宋体-Medium" pitchFamily="34" charset="-122"/>
                <a:cs typeface="思源宋体-Medium" pitchFamily="34" charset="-120"/>
              </a:rPr>
              <a:t>Practical Application</a:t>
            </a:r>
            <a:endParaRPr lang="en-US" sz="2320" dirty="0"/>
          </a:p>
        </p:txBody>
      </p:sp>
      <p:sp>
        <p:nvSpPr>
          <p:cNvPr id="12" name="Text 6"/>
          <p:cNvSpPr/>
          <p:nvPr/>
        </p:nvSpPr>
        <p:spPr>
          <a:xfrm>
            <a:off x="5394960" y="2560320"/>
            <a:ext cx="38587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320"/>
              </a:lnSpc>
              <a:buNone/>
            </a:pPr>
            <a:r>
              <a:rPr lang="en-US" sz="1850" dirty="0">
                <a:solidFill>
                  <a:srgbClr val="696969"/>
                </a:solidFill>
                <a:latin typeface="思源宋体-Medium" pitchFamily="34" charset="0"/>
                <a:ea typeface="思源宋体-Medium" pitchFamily="34" charset="-122"/>
                <a:cs typeface="思源宋体-Medium" pitchFamily="34" charset="-120"/>
              </a:rPr>
              <a:t>Staying updated with the latest developments in HTTP and web protocols is crucial for developers.</a:t>
            </a:r>
            <a:endParaRPr lang="en-US" sz="1850" dirty="0"/>
          </a:p>
        </p:txBody>
      </p:sp>
      <p:sp>
        <p:nvSpPr>
          <p:cNvPr id="13" name="Text 7"/>
          <p:cNvSpPr/>
          <p:nvPr/>
        </p:nvSpPr>
        <p:spPr>
          <a:xfrm>
            <a:off x="9765792" y="6693408"/>
            <a:ext cx="173736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780"/>
              </a:lnSpc>
              <a:buNone/>
            </a:pPr>
            <a:r>
              <a:rPr lang="en-US" sz="2320" dirty="0">
                <a:solidFill>
                  <a:srgbClr val="121212"/>
                </a:solidFill>
                <a:latin typeface="思源宋体-Medium" pitchFamily="34" charset="0"/>
                <a:ea typeface="思源宋体-Medium" pitchFamily="34" charset="-122"/>
                <a:cs typeface="思源宋体-Medium" pitchFamily="34" charset="-120"/>
              </a:rPr>
              <a:t>3</a:t>
            </a:r>
            <a:endParaRPr lang="en-US" sz="2320" dirty="0"/>
          </a:p>
        </p:txBody>
      </p:sp>
      <p:sp>
        <p:nvSpPr>
          <p:cNvPr id="14" name="Text 8"/>
          <p:cNvSpPr/>
          <p:nvPr/>
        </p:nvSpPr>
        <p:spPr>
          <a:xfrm>
            <a:off x="7232904" y="5230368"/>
            <a:ext cx="173736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780"/>
              </a:lnSpc>
              <a:buNone/>
            </a:pPr>
            <a:r>
              <a:rPr lang="en-US" sz="2320" dirty="0">
                <a:solidFill>
                  <a:srgbClr val="FFFFFF"/>
                </a:solidFill>
                <a:latin typeface="思源宋体-Medium" pitchFamily="34" charset="0"/>
                <a:ea typeface="思源宋体-Medium" pitchFamily="34" charset="-122"/>
                <a:cs typeface="思源宋体-Medium" pitchFamily="34" charset="-120"/>
              </a:rPr>
              <a:t>2</a:t>
            </a:r>
            <a:endParaRPr lang="en-US" sz="2320" dirty="0"/>
          </a:p>
        </p:txBody>
      </p:sp>
      <p:sp>
        <p:nvSpPr>
          <p:cNvPr id="15" name="Text 9"/>
          <p:cNvSpPr/>
          <p:nvPr/>
        </p:nvSpPr>
        <p:spPr>
          <a:xfrm>
            <a:off x="4709160" y="6693408"/>
            <a:ext cx="173736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780"/>
              </a:lnSpc>
              <a:buNone/>
            </a:pPr>
            <a:r>
              <a:rPr lang="en-US" sz="2320" dirty="0">
                <a:solidFill>
                  <a:srgbClr val="121212"/>
                </a:solidFill>
                <a:latin typeface="思源宋体-Medium" pitchFamily="34" charset="0"/>
                <a:ea typeface="思源宋体-Medium" pitchFamily="34" charset="-122"/>
                <a:cs typeface="思源宋体-Medium" pitchFamily="34" charset="-120"/>
              </a:rPr>
              <a:t>1</a:t>
            </a:r>
            <a:endParaRPr lang="en-US" sz="23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2025-06-01T04:01:31Z</dcterms:created>
  <dcterms:modified xsi:type="dcterms:W3CDTF">2025-06-01T04:01:31Z</dcterms:modified>
</cp:coreProperties>
</file>