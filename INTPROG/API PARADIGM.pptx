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57" r:id="rId3"/>
    <p:sldId id="256" r:id="rId4"/>
    <p:sldId id="258" r:id="rId5"/>
    <p:sldId id="259" r:id="rId6"/>
    <p:sldId id="260" r:id="rId7"/>
    <p:sldId id="261" r:id="rId8"/>
    <p:sldId id="275" r:id="rId9"/>
    <p:sldId id="262" r:id="rId10"/>
    <p:sldId id="276" r:id="rId11"/>
    <p:sldId id="263" r:id="rId12"/>
    <p:sldId id="274" r:id="rId13"/>
    <p:sldId id="264" r:id="rId14"/>
    <p:sldId id="265" r:id="rId15"/>
    <p:sldId id="277" r:id="rId16"/>
    <p:sldId id="266" r:id="rId17"/>
    <p:sldId id="267" r:id="rId18"/>
    <p:sldId id="278" r:id="rId19"/>
    <p:sldId id="268" r:id="rId20"/>
    <p:sldId id="269" r:id="rId21"/>
    <p:sldId id="270" r:id="rId22"/>
    <p:sldId id="279" r:id="rId23"/>
    <p:sldId id="271" r:id="rId24"/>
    <p:sldId id="272"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20" d="100"/>
          <a:sy n="120" d="100"/>
        </p:scale>
        <p:origin x="12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9BB11665-8A68-42A4-94A3-76202E35A2B3}" type="datetimeFigureOut">
              <a:rPr lang="en-PH" smtClean="0"/>
              <a:t>30/10/2024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2858355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9BB11665-8A68-42A4-94A3-76202E35A2B3}" type="datetimeFigureOut">
              <a:rPr lang="en-PH" smtClean="0"/>
              <a:t>30/10/2024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2513004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B11665-8A68-42A4-94A3-76202E35A2B3}" type="datetimeFigureOut">
              <a:rPr lang="en-PH" smtClean="0"/>
              <a:t>30/10/2024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963288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9BB11665-8A68-42A4-94A3-76202E35A2B3}" type="datetimeFigureOut">
              <a:rPr lang="en-PH" smtClean="0"/>
              <a:t>30/10/2024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3312818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9BB11665-8A68-42A4-94A3-76202E35A2B3}" type="datetimeFigureOut">
              <a:rPr lang="en-PH" smtClean="0"/>
              <a:t>30/10/2024</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2203062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9BB11665-8A68-42A4-94A3-76202E35A2B3}" type="datetimeFigureOut">
              <a:rPr lang="en-PH" smtClean="0"/>
              <a:t>30/10/2024</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1368985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B11665-8A68-42A4-94A3-76202E35A2B3}" type="datetimeFigureOut">
              <a:rPr lang="en-PH" smtClean="0"/>
              <a:t>30/10/2024</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3766095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B11665-8A68-42A4-94A3-76202E35A2B3}" type="datetimeFigureOut">
              <a:rPr lang="en-PH" smtClean="0"/>
              <a:t>30/10/2024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406668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B11665-8A68-42A4-94A3-76202E35A2B3}" type="datetimeFigureOut">
              <a:rPr lang="en-PH" smtClean="0"/>
              <a:t>30/10/2024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4037031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9BB11665-8A68-42A4-94A3-76202E35A2B3}" type="datetimeFigureOut">
              <a:rPr lang="en-PH" smtClean="0"/>
              <a:t>30/10/2024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294973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9BB11665-8A68-42A4-94A3-76202E35A2B3}" type="datetimeFigureOut">
              <a:rPr lang="en-PH" smtClean="0"/>
              <a:t>30/10/2024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5438A127-9E7A-4E43-BF97-1250A8503949}" type="slidenum">
              <a:rPr lang="en-PH" smtClean="0"/>
              <a:t>‹#›</a:t>
            </a:fld>
            <a:endParaRPr lang="en-PH"/>
          </a:p>
        </p:txBody>
      </p:sp>
    </p:spTree>
    <p:extLst>
      <p:ext uri="{BB962C8B-B14F-4D97-AF65-F5344CB8AC3E}">
        <p14:creationId xmlns:p14="http://schemas.microsoft.com/office/powerpoint/2010/main" val="918079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B11665-8A68-42A4-94A3-76202E35A2B3}" type="datetimeFigureOut">
              <a:rPr lang="en-PH" smtClean="0"/>
              <a:t>30/10/2024</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38A127-9E7A-4E43-BF97-1250A8503949}" type="slidenum">
              <a:rPr lang="en-PH" smtClean="0"/>
              <a:t>‹#›</a:t>
            </a:fld>
            <a:endParaRPr lang="en-PH"/>
          </a:p>
        </p:txBody>
      </p:sp>
    </p:spTree>
    <p:extLst>
      <p:ext uri="{BB962C8B-B14F-4D97-AF65-F5344CB8AC3E}">
        <p14:creationId xmlns:p14="http://schemas.microsoft.com/office/powerpoint/2010/main" val="795355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68622" y="2632083"/>
            <a:ext cx="4049378" cy="830997"/>
          </a:xfrm>
          <a:prstGeom prst="rect">
            <a:avLst/>
          </a:prstGeom>
        </p:spPr>
        <p:txBody>
          <a:bodyPr wrap="none">
            <a:spAutoFit/>
          </a:bodyPr>
          <a:lstStyle/>
          <a:p>
            <a:r>
              <a:rPr lang="en-US" sz="4800" b="1" dirty="0" smtClean="0"/>
              <a:t>API PARADIGM</a:t>
            </a:r>
            <a:endParaRPr lang="en-PH" sz="4800" dirty="0"/>
          </a:p>
        </p:txBody>
      </p:sp>
    </p:spTree>
    <p:extLst>
      <p:ext uri="{BB962C8B-B14F-4D97-AF65-F5344CB8AC3E}">
        <p14:creationId xmlns:p14="http://schemas.microsoft.com/office/powerpoint/2010/main" val="708577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41621" y="1420722"/>
            <a:ext cx="10169718" cy="3539430"/>
          </a:xfrm>
          <a:prstGeom prst="rect">
            <a:avLst/>
          </a:prstGeom>
        </p:spPr>
        <p:txBody>
          <a:bodyPr wrap="square">
            <a:spAutoFit/>
          </a:bodyPr>
          <a:lstStyle/>
          <a:p>
            <a:pPr algn="just"/>
            <a:r>
              <a:rPr lang="en-US" sz="2800" b="1" dirty="0" smtClean="0"/>
              <a:t>API</a:t>
            </a:r>
            <a:r>
              <a:rPr lang="en-US" sz="2800" dirty="0" smtClean="0"/>
              <a:t> (Application Programming Interface) is a set of rules and protocols that allows different software applications to communicate and interact with each other. It defines the methods and data formats that applications can use to request and exchange information or perform specific actions. APIs are essential in modern software development as they enable developers to build upon existing software and services, creating new applications or features without having to recreate everything from scratch.</a:t>
            </a:r>
            <a:endParaRPr lang="en-PH" sz="2800" dirty="0"/>
          </a:p>
        </p:txBody>
      </p:sp>
    </p:spTree>
    <p:extLst>
      <p:ext uri="{BB962C8B-B14F-4D97-AF65-F5344CB8AC3E}">
        <p14:creationId xmlns:p14="http://schemas.microsoft.com/office/powerpoint/2010/main" val="112521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4347" y="1144987"/>
            <a:ext cx="8633602" cy="4524291"/>
          </a:xfrm>
          <a:prstGeom prst="rect">
            <a:avLst/>
          </a:prstGeom>
          <a:ln>
            <a:solidFill>
              <a:srgbClr val="00B050"/>
            </a:solidFill>
          </a:ln>
        </p:spPr>
      </p:pic>
    </p:spTree>
    <p:extLst>
      <p:ext uri="{BB962C8B-B14F-4D97-AF65-F5344CB8AC3E}">
        <p14:creationId xmlns:p14="http://schemas.microsoft.com/office/powerpoint/2010/main" val="203739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sz="4000" b="1" dirty="0" smtClean="0"/>
              <a:t>Key </a:t>
            </a:r>
            <a:r>
              <a:rPr lang="en-PH" sz="4000" b="1" dirty="0"/>
              <a:t>points about </a:t>
            </a:r>
            <a:r>
              <a:rPr lang="en-PH" sz="4000" b="1" dirty="0" smtClean="0"/>
              <a:t>APIs!</a:t>
            </a:r>
            <a:endParaRPr lang="en-PH" sz="4000" b="1" dirty="0"/>
          </a:p>
        </p:txBody>
      </p:sp>
      <p:sp>
        <p:nvSpPr>
          <p:cNvPr id="3" name="Content Placeholder 2"/>
          <p:cNvSpPr>
            <a:spLocks noGrp="1"/>
          </p:cNvSpPr>
          <p:nvPr>
            <p:ph idx="1"/>
          </p:nvPr>
        </p:nvSpPr>
        <p:spPr>
          <a:xfrm>
            <a:off x="838200" y="1634794"/>
            <a:ext cx="10515600" cy="4351338"/>
          </a:xfrm>
        </p:spPr>
        <p:txBody>
          <a:bodyPr>
            <a:normAutofit/>
          </a:bodyPr>
          <a:lstStyle/>
          <a:p>
            <a:pPr algn="just">
              <a:buFont typeface="+mj-lt"/>
              <a:buAutoNum type="arabicPeriod"/>
            </a:pPr>
            <a:r>
              <a:rPr lang="en-US" sz="2200" b="1" i="0" dirty="0" smtClean="0">
                <a:solidFill>
                  <a:srgbClr val="374151"/>
                </a:solidFill>
                <a:effectLst/>
                <a:latin typeface="Söhne"/>
              </a:rPr>
              <a:t> Communication</a:t>
            </a:r>
            <a:r>
              <a:rPr lang="en-US" sz="2200" b="0" i="0" dirty="0" smtClean="0">
                <a:solidFill>
                  <a:srgbClr val="374151"/>
                </a:solidFill>
                <a:effectLst/>
                <a:latin typeface="Söhne"/>
              </a:rPr>
              <a:t>: APIs enable different software components or systems to communicate and share data. This communication can happen over the internet or within a single computer.</a:t>
            </a:r>
          </a:p>
          <a:p>
            <a:pPr algn="just">
              <a:buFont typeface="+mj-lt"/>
              <a:buAutoNum type="arabicPeriod"/>
            </a:pPr>
            <a:endParaRPr lang="en-US" sz="2200" b="0" i="0" dirty="0" smtClean="0">
              <a:solidFill>
                <a:srgbClr val="374151"/>
              </a:solidFill>
              <a:effectLst/>
              <a:latin typeface="Söhne"/>
            </a:endParaRPr>
          </a:p>
          <a:p>
            <a:pPr algn="just">
              <a:buFont typeface="+mj-lt"/>
              <a:buAutoNum type="arabicPeriod"/>
            </a:pPr>
            <a:r>
              <a:rPr lang="en-US" sz="2200" b="1" i="0" dirty="0" smtClean="0">
                <a:solidFill>
                  <a:srgbClr val="374151"/>
                </a:solidFill>
                <a:effectLst/>
                <a:latin typeface="Söhne"/>
              </a:rPr>
              <a:t> Abstraction</a:t>
            </a:r>
            <a:r>
              <a:rPr lang="en-US" sz="2200" b="0" i="0" dirty="0" smtClean="0">
                <a:solidFill>
                  <a:srgbClr val="374151"/>
                </a:solidFill>
                <a:effectLst/>
                <a:latin typeface="Söhne"/>
              </a:rPr>
              <a:t>: APIs provide an abstraction layer, hiding the internal complexities of the software or service being accessed. This allows developers to use the API without needing to understand the inner workings of the system.</a:t>
            </a:r>
          </a:p>
          <a:p>
            <a:pPr algn="just">
              <a:buFont typeface="+mj-lt"/>
              <a:buAutoNum type="arabicPeriod"/>
            </a:pPr>
            <a:endParaRPr lang="en-US" sz="2200" b="0" i="0" dirty="0" smtClean="0">
              <a:solidFill>
                <a:srgbClr val="374151"/>
              </a:solidFill>
              <a:effectLst/>
              <a:latin typeface="Söhne"/>
            </a:endParaRPr>
          </a:p>
          <a:p>
            <a:pPr algn="just">
              <a:buFont typeface="+mj-lt"/>
              <a:buAutoNum type="arabicPeriod"/>
            </a:pPr>
            <a:r>
              <a:rPr lang="en-US" sz="2200" b="1" i="0" dirty="0" smtClean="0">
                <a:solidFill>
                  <a:srgbClr val="374151"/>
                </a:solidFill>
                <a:effectLst/>
                <a:latin typeface="Söhne"/>
              </a:rPr>
              <a:t> Standardization</a:t>
            </a:r>
            <a:r>
              <a:rPr lang="en-US" sz="2200" b="0" i="0" dirty="0" smtClean="0">
                <a:solidFill>
                  <a:srgbClr val="374151"/>
                </a:solidFill>
                <a:effectLst/>
                <a:latin typeface="Söhne"/>
              </a:rPr>
              <a:t>: APIs are designed with specific standards and conventions, making it easier for developers to understand and use them. This standardization promotes interoperability.</a:t>
            </a:r>
          </a:p>
          <a:p>
            <a:pPr marL="0" indent="0">
              <a:buNone/>
            </a:pPr>
            <a:endParaRPr lang="en-PH" dirty="0"/>
          </a:p>
        </p:txBody>
      </p:sp>
    </p:spTree>
    <p:extLst>
      <p:ext uri="{BB962C8B-B14F-4D97-AF65-F5344CB8AC3E}">
        <p14:creationId xmlns:p14="http://schemas.microsoft.com/office/powerpoint/2010/main" val="4101887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Key points about APIs!</a:t>
            </a:r>
            <a:endParaRPr lang="en-PH" dirty="0"/>
          </a:p>
        </p:txBody>
      </p:sp>
      <p:sp>
        <p:nvSpPr>
          <p:cNvPr id="3" name="Content Placeholder 2"/>
          <p:cNvSpPr>
            <a:spLocks noGrp="1"/>
          </p:cNvSpPr>
          <p:nvPr>
            <p:ph idx="1"/>
          </p:nvPr>
        </p:nvSpPr>
        <p:spPr/>
        <p:txBody>
          <a:bodyPr>
            <a:normAutofit lnSpcReduction="10000"/>
          </a:bodyPr>
          <a:lstStyle/>
          <a:p>
            <a:pPr marL="457200" indent="-457200" algn="just">
              <a:buFont typeface="+mj-lt"/>
              <a:buAutoNum type="arabicPeriod" startAt="4"/>
            </a:pPr>
            <a:r>
              <a:rPr lang="en-US" sz="2200" b="1" i="0" dirty="0" smtClean="0">
                <a:solidFill>
                  <a:srgbClr val="374151"/>
                </a:solidFill>
                <a:effectLst/>
                <a:latin typeface="Söhne"/>
              </a:rPr>
              <a:t>Functionality</a:t>
            </a:r>
            <a:r>
              <a:rPr lang="en-US" sz="2200" b="0" i="0" dirty="0" smtClean="0">
                <a:solidFill>
                  <a:srgbClr val="374151"/>
                </a:solidFill>
                <a:effectLst/>
                <a:latin typeface="Söhne"/>
              </a:rPr>
              <a:t>: APIs can offer various types of functionality. They can be used to retrieve data from a database, control hardware devices, interact with web services, or perform other operations.</a:t>
            </a:r>
          </a:p>
          <a:p>
            <a:pPr marL="457200" indent="-457200" algn="just">
              <a:buFont typeface="+mj-lt"/>
              <a:buAutoNum type="arabicPeriod" startAt="4"/>
            </a:pPr>
            <a:endParaRPr lang="en-US" sz="2200" b="0" i="0" dirty="0" smtClean="0">
              <a:solidFill>
                <a:srgbClr val="374151"/>
              </a:solidFill>
              <a:effectLst/>
              <a:latin typeface="Söhne"/>
            </a:endParaRPr>
          </a:p>
          <a:p>
            <a:pPr marL="457200" indent="-457200" algn="just">
              <a:buFont typeface="+mj-lt"/>
              <a:buAutoNum type="arabicPeriod" startAt="4"/>
            </a:pPr>
            <a:r>
              <a:rPr lang="en-US" sz="2200" b="1" i="0" dirty="0" smtClean="0">
                <a:solidFill>
                  <a:srgbClr val="374151"/>
                </a:solidFill>
                <a:effectLst/>
                <a:latin typeface="Söhne"/>
              </a:rPr>
              <a:t>HTTP APIs</a:t>
            </a:r>
            <a:r>
              <a:rPr lang="en-US" sz="2200" b="0" i="0" dirty="0" smtClean="0">
                <a:solidFill>
                  <a:srgbClr val="374151"/>
                </a:solidFill>
                <a:effectLst/>
                <a:latin typeface="Söhne"/>
              </a:rPr>
              <a:t>: Many modern APIs are built using HTTP (Hypertext Transfer Protocol) and are accessible over the internet. These are often referred to as "web APIs" and are commonly used for connecting web applications to external services or data sources.</a:t>
            </a:r>
          </a:p>
          <a:p>
            <a:pPr marL="457200" indent="-457200" algn="just">
              <a:buFont typeface="+mj-lt"/>
              <a:buAutoNum type="arabicPeriod" startAt="4"/>
            </a:pPr>
            <a:endParaRPr lang="en-US" sz="2200" b="0" i="0" dirty="0" smtClean="0">
              <a:solidFill>
                <a:srgbClr val="374151"/>
              </a:solidFill>
              <a:effectLst/>
              <a:latin typeface="Söhne"/>
            </a:endParaRPr>
          </a:p>
          <a:p>
            <a:pPr marL="457200" indent="-457200" algn="just">
              <a:buFont typeface="+mj-lt"/>
              <a:buAutoNum type="arabicPeriod" startAt="4"/>
            </a:pPr>
            <a:r>
              <a:rPr lang="en-US" sz="2200" b="1" i="0" dirty="0" smtClean="0">
                <a:solidFill>
                  <a:srgbClr val="374151"/>
                </a:solidFill>
                <a:effectLst/>
                <a:latin typeface="Söhne"/>
              </a:rPr>
              <a:t>REST and SOAP</a:t>
            </a:r>
            <a:r>
              <a:rPr lang="en-US" sz="2200" b="0" i="0" dirty="0" smtClean="0">
                <a:solidFill>
                  <a:srgbClr val="374151"/>
                </a:solidFill>
                <a:effectLst/>
                <a:latin typeface="Söhne"/>
              </a:rPr>
              <a:t>: Two common architectural styles for web APIs are Representational State Transfer (REST) and Simple Object Access Protocol (SOAP). REST APIs use HTTP methods (GET, POST, PUT, DELETE) to perform operations on resources, while SOAP uses XML-based messaging.</a:t>
            </a:r>
          </a:p>
          <a:p>
            <a:pPr marL="0" indent="0">
              <a:buNone/>
            </a:pPr>
            <a:endParaRPr lang="en-PH" dirty="0"/>
          </a:p>
        </p:txBody>
      </p:sp>
    </p:spTree>
    <p:extLst>
      <p:ext uri="{BB962C8B-B14F-4D97-AF65-F5344CB8AC3E}">
        <p14:creationId xmlns:p14="http://schemas.microsoft.com/office/powerpoint/2010/main" val="73468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Key points about APIs!</a:t>
            </a:r>
            <a:endParaRPr lang="en-PH" dirty="0"/>
          </a:p>
        </p:txBody>
      </p:sp>
      <p:sp>
        <p:nvSpPr>
          <p:cNvPr id="3" name="Content Placeholder 2"/>
          <p:cNvSpPr>
            <a:spLocks noGrp="1"/>
          </p:cNvSpPr>
          <p:nvPr>
            <p:ph idx="1"/>
          </p:nvPr>
        </p:nvSpPr>
        <p:spPr/>
        <p:txBody>
          <a:bodyPr>
            <a:normAutofit fontScale="85000" lnSpcReduction="10000"/>
          </a:bodyPr>
          <a:lstStyle/>
          <a:p>
            <a:pPr marL="514350" indent="-514350" algn="just">
              <a:buFont typeface="+mj-lt"/>
              <a:buAutoNum type="arabicPeriod" startAt="7"/>
            </a:pPr>
            <a:r>
              <a:rPr lang="en-US" b="1" i="0" dirty="0" smtClean="0">
                <a:solidFill>
                  <a:srgbClr val="374151"/>
                </a:solidFill>
                <a:effectLst/>
                <a:latin typeface="Söhne"/>
              </a:rPr>
              <a:t>Authentication and Authorization</a:t>
            </a:r>
            <a:r>
              <a:rPr lang="en-US" b="0" i="0" dirty="0" smtClean="0">
                <a:solidFill>
                  <a:srgbClr val="374151"/>
                </a:solidFill>
                <a:effectLst/>
                <a:latin typeface="Söhne"/>
              </a:rPr>
              <a:t>: APIs often require authentication to ensure that only authorized users or applications can access the data or perform actions. This can involve API keys, tokens, or other authentication mechanisms.</a:t>
            </a:r>
          </a:p>
          <a:p>
            <a:pPr marL="514350" indent="-514350" algn="just">
              <a:buFont typeface="+mj-lt"/>
              <a:buAutoNum type="arabicPeriod" startAt="7"/>
            </a:pPr>
            <a:r>
              <a:rPr lang="en-US" b="1" i="0" dirty="0" smtClean="0">
                <a:solidFill>
                  <a:srgbClr val="374151"/>
                </a:solidFill>
                <a:effectLst/>
                <a:latin typeface="Söhne"/>
              </a:rPr>
              <a:t>Rate Limiting</a:t>
            </a:r>
            <a:r>
              <a:rPr lang="en-US" b="0" i="0" dirty="0" smtClean="0">
                <a:solidFill>
                  <a:srgbClr val="374151"/>
                </a:solidFill>
                <a:effectLst/>
                <a:latin typeface="Söhne"/>
              </a:rPr>
              <a:t>: To prevent abuse and ensure fair usage, APIs often implement rate limiting, which restricts the number of requests a client can make within a specific time frame.</a:t>
            </a:r>
          </a:p>
          <a:p>
            <a:pPr marL="514350" indent="-514350" algn="just">
              <a:buFont typeface="+mj-lt"/>
              <a:buAutoNum type="arabicPeriod" startAt="7"/>
            </a:pPr>
            <a:r>
              <a:rPr lang="en-US" b="1" i="0" dirty="0" smtClean="0">
                <a:solidFill>
                  <a:srgbClr val="374151"/>
                </a:solidFill>
                <a:effectLst/>
                <a:latin typeface="Söhne"/>
              </a:rPr>
              <a:t>Documentation</a:t>
            </a:r>
            <a:r>
              <a:rPr lang="en-US" b="0" i="0" dirty="0" smtClean="0">
                <a:solidFill>
                  <a:srgbClr val="374151"/>
                </a:solidFill>
                <a:effectLst/>
                <a:latin typeface="Söhne"/>
              </a:rPr>
              <a:t>: Good API documentation is crucial to help developers understand how to use an API effectively. It provides details on endpoints, request and response formats, authentication, and usage examples.</a:t>
            </a:r>
          </a:p>
          <a:p>
            <a:pPr marL="514350" indent="-514350" algn="just">
              <a:buFont typeface="+mj-lt"/>
              <a:buAutoNum type="arabicPeriod" startAt="7"/>
            </a:pPr>
            <a:r>
              <a:rPr lang="en-US" b="1" i="0" dirty="0" smtClean="0">
                <a:solidFill>
                  <a:srgbClr val="374151"/>
                </a:solidFill>
                <a:effectLst/>
                <a:latin typeface="Söhne"/>
              </a:rPr>
              <a:t>Security</a:t>
            </a:r>
            <a:r>
              <a:rPr lang="en-US" b="0" i="0" dirty="0" smtClean="0">
                <a:solidFill>
                  <a:srgbClr val="374151"/>
                </a:solidFill>
                <a:effectLst/>
                <a:latin typeface="Söhne"/>
              </a:rPr>
              <a:t>: APIs must be designed with security in mind to protect against data breaches, unauthorized access, and other vulnerabilities.</a:t>
            </a:r>
            <a:endParaRPr lang="en-US" b="0" i="0" dirty="0">
              <a:solidFill>
                <a:srgbClr val="374151"/>
              </a:solidFill>
              <a:effectLst/>
              <a:latin typeface="Söhne"/>
            </a:endParaRPr>
          </a:p>
        </p:txBody>
      </p:sp>
    </p:spTree>
    <p:extLst>
      <p:ext uri="{BB962C8B-B14F-4D97-AF65-F5344CB8AC3E}">
        <p14:creationId xmlns:p14="http://schemas.microsoft.com/office/powerpoint/2010/main" val="1212001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smtClean="0">
                <a:solidFill>
                  <a:srgbClr val="00B050"/>
                </a:solidFill>
              </a:rPr>
              <a:t>REST API</a:t>
            </a:r>
            <a:r>
              <a:rPr lang="en-US" sz="3600" b="1" dirty="0" smtClean="0"/>
              <a:t/>
            </a:r>
            <a:br>
              <a:rPr lang="en-US" sz="3600" b="1" dirty="0" smtClean="0"/>
            </a:br>
            <a:r>
              <a:rPr lang="en-US" sz="3600" b="1" dirty="0" smtClean="0"/>
              <a:t>Representational State Transfer</a:t>
            </a:r>
            <a:endParaRPr lang="en-PH" sz="3600" b="1" dirty="0"/>
          </a:p>
        </p:txBody>
      </p:sp>
      <p:sp>
        <p:nvSpPr>
          <p:cNvPr id="3" name="Content Placeholder 2"/>
          <p:cNvSpPr>
            <a:spLocks noGrp="1"/>
          </p:cNvSpPr>
          <p:nvPr>
            <p:ph idx="1"/>
          </p:nvPr>
        </p:nvSpPr>
        <p:spPr/>
        <p:txBody>
          <a:bodyPr/>
          <a:lstStyle/>
          <a:p>
            <a:pPr marL="0" indent="0" algn="just">
              <a:buNone/>
            </a:pPr>
            <a:r>
              <a:rPr lang="en-US" b="1" dirty="0" smtClean="0"/>
              <a:t>REST API, or Representational State Transfer Application Programming Interface</a:t>
            </a:r>
            <a:r>
              <a:rPr lang="en-US" dirty="0" smtClean="0"/>
              <a:t>, is a type of web API (Application Programming Interface) that follows the principles and constraints of the REST architectural style. REST is not a protocol but a set of architectural constraints that guide the design of networked applications. These constraints help in creating scalable, stateless, and loosely coupled systems that can be easily maintained and extended. REST APIs are commonly used for building web services and are based on the HTTP protocol.</a:t>
            </a:r>
            <a:endParaRPr lang="en-PH" dirty="0"/>
          </a:p>
        </p:txBody>
      </p:sp>
    </p:spTree>
    <p:extLst>
      <p:ext uri="{BB962C8B-B14F-4D97-AF65-F5344CB8AC3E}">
        <p14:creationId xmlns:p14="http://schemas.microsoft.com/office/powerpoint/2010/main" val="4268710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1707" y="1230439"/>
            <a:ext cx="9068586" cy="4397121"/>
          </a:xfrm>
          <a:prstGeom prst="rect">
            <a:avLst/>
          </a:prstGeom>
        </p:spPr>
      </p:pic>
    </p:spTree>
    <p:extLst>
      <p:ext uri="{BB962C8B-B14F-4D97-AF65-F5344CB8AC3E}">
        <p14:creationId xmlns:p14="http://schemas.microsoft.com/office/powerpoint/2010/main" val="587905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solidFill>
                  <a:srgbClr val="00B050"/>
                </a:solidFill>
              </a:rPr>
              <a:t>RPC</a:t>
            </a:r>
            <a:r>
              <a:rPr lang="en-US" sz="3600" b="1" dirty="0" smtClean="0"/>
              <a:t> </a:t>
            </a:r>
            <a:br>
              <a:rPr lang="en-US" sz="3600" b="1" dirty="0" smtClean="0"/>
            </a:br>
            <a:r>
              <a:rPr lang="en-US" sz="3600" b="1" dirty="0" smtClean="0"/>
              <a:t>Remote Procedure Call</a:t>
            </a:r>
            <a:endParaRPr lang="en-PH" sz="3600" b="1" dirty="0"/>
          </a:p>
        </p:txBody>
      </p:sp>
      <p:sp>
        <p:nvSpPr>
          <p:cNvPr id="3" name="Content Placeholder 2"/>
          <p:cNvSpPr>
            <a:spLocks noGrp="1"/>
          </p:cNvSpPr>
          <p:nvPr>
            <p:ph idx="1"/>
          </p:nvPr>
        </p:nvSpPr>
        <p:spPr/>
        <p:txBody>
          <a:bodyPr/>
          <a:lstStyle/>
          <a:p>
            <a:pPr marL="0" indent="0" algn="just">
              <a:buNone/>
            </a:pPr>
            <a:r>
              <a:rPr lang="en-US" b="1" dirty="0" smtClean="0"/>
              <a:t>RPC stands for Remote Procedure Call</a:t>
            </a:r>
            <a:r>
              <a:rPr lang="en-US" dirty="0" smtClean="0"/>
              <a:t>, which is a protocol that allows one program or process to request a service or function to be executed on another remote system as if it were a local function call. In essence, RPC enables distributed and networked applications to communicate by invoking procedures or methods on remote servers, as if they were local function calls. It abstracts the complexities of network communication, making it easier for developers to build distributed systems.</a:t>
            </a:r>
            <a:endParaRPr lang="en-PH" dirty="0"/>
          </a:p>
        </p:txBody>
      </p:sp>
    </p:spTree>
    <p:extLst>
      <p:ext uri="{BB962C8B-B14F-4D97-AF65-F5344CB8AC3E}">
        <p14:creationId xmlns:p14="http://schemas.microsoft.com/office/powerpoint/2010/main" val="770944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9996" y="1459059"/>
            <a:ext cx="7232007" cy="3939881"/>
          </a:xfrm>
          <a:prstGeom prst="rect">
            <a:avLst/>
          </a:prstGeom>
        </p:spPr>
      </p:pic>
    </p:spTree>
    <p:extLst>
      <p:ext uri="{BB962C8B-B14F-4D97-AF65-F5344CB8AC3E}">
        <p14:creationId xmlns:p14="http://schemas.microsoft.com/office/powerpoint/2010/main" val="1124944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solidFill>
                  <a:srgbClr val="00B050"/>
                </a:solidFill>
              </a:rPr>
              <a:t>GraphQL</a:t>
            </a:r>
            <a:endParaRPr lang="en-PH" dirty="0">
              <a:solidFill>
                <a:srgbClr val="00B050"/>
              </a:solidFill>
            </a:endParaRPr>
          </a:p>
        </p:txBody>
      </p:sp>
      <p:sp>
        <p:nvSpPr>
          <p:cNvPr id="3" name="Content Placeholder 2"/>
          <p:cNvSpPr>
            <a:spLocks noGrp="1"/>
          </p:cNvSpPr>
          <p:nvPr>
            <p:ph idx="1"/>
          </p:nvPr>
        </p:nvSpPr>
        <p:spPr/>
        <p:txBody>
          <a:bodyPr/>
          <a:lstStyle/>
          <a:p>
            <a:pPr marL="0" indent="0" algn="just">
              <a:buNone/>
            </a:pPr>
            <a:r>
              <a:rPr lang="en-US" b="1" dirty="0" err="1" smtClean="0"/>
              <a:t>GraphQL</a:t>
            </a:r>
            <a:r>
              <a:rPr lang="en-US" dirty="0" smtClean="0"/>
              <a:t> is an open-source query language for APIs (Application Programming Interfaces) and a runtime environment for executing those queries by leveraging a type system you define for your data. It was developed by Facebook and released in 2015, and it has gained widespread adoption in the software development community since then.</a:t>
            </a:r>
            <a:endParaRPr lang="en-PH" dirty="0"/>
          </a:p>
        </p:txBody>
      </p:sp>
    </p:spTree>
    <p:extLst>
      <p:ext uri="{BB962C8B-B14F-4D97-AF65-F5344CB8AC3E}">
        <p14:creationId xmlns:p14="http://schemas.microsoft.com/office/powerpoint/2010/main" val="842710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2598" y="1057523"/>
            <a:ext cx="7712868" cy="4350849"/>
          </a:xfrm>
          <a:prstGeom prst="rect">
            <a:avLst/>
          </a:prstGeom>
        </p:spPr>
      </p:pic>
    </p:spTree>
    <p:extLst>
      <p:ext uri="{BB962C8B-B14F-4D97-AF65-F5344CB8AC3E}">
        <p14:creationId xmlns:p14="http://schemas.microsoft.com/office/powerpoint/2010/main" val="3317221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9376"/>
          </a:xfrm>
        </p:spPr>
        <p:txBody>
          <a:bodyPr>
            <a:normAutofit/>
          </a:bodyPr>
          <a:lstStyle/>
          <a:p>
            <a:r>
              <a:rPr lang="en-US" sz="2800" b="1" dirty="0" smtClean="0"/>
              <a:t>Here are some </a:t>
            </a:r>
            <a:r>
              <a:rPr lang="en-US" sz="2800" b="1" dirty="0"/>
              <a:t>key characteristics and concepts related to </a:t>
            </a:r>
            <a:r>
              <a:rPr lang="en-US" sz="2800" b="1" dirty="0" err="1" smtClean="0"/>
              <a:t>GraphQL</a:t>
            </a:r>
            <a:r>
              <a:rPr lang="en-US" sz="2800" b="1" dirty="0" smtClean="0"/>
              <a:t>:</a:t>
            </a:r>
            <a:endParaRPr lang="en-PH" sz="2800" b="1" dirty="0"/>
          </a:p>
        </p:txBody>
      </p:sp>
      <p:sp>
        <p:nvSpPr>
          <p:cNvPr id="3" name="Content Placeholder 2"/>
          <p:cNvSpPr>
            <a:spLocks noGrp="1"/>
          </p:cNvSpPr>
          <p:nvPr>
            <p:ph idx="1"/>
          </p:nvPr>
        </p:nvSpPr>
        <p:spPr>
          <a:xfrm>
            <a:off x="838200" y="1216550"/>
            <a:ext cx="10515600" cy="5271714"/>
          </a:xfrm>
        </p:spPr>
        <p:txBody>
          <a:bodyPr>
            <a:normAutofit fontScale="85000" lnSpcReduction="10000"/>
          </a:bodyPr>
          <a:lstStyle/>
          <a:p>
            <a:pPr marL="514350" indent="-514350" algn="just">
              <a:buFont typeface="+mj-lt"/>
              <a:buAutoNum type="arabicPeriod"/>
            </a:pPr>
            <a:r>
              <a:rPr lang="en-US" b="1" dirty="0" smtClean="0"/>
              <a:t>Flexible Querying:</a:t>
            </a:r>
            <a:r>
              <a:rPr lang="en-US" dirty="0" smtClean="0"/>
              <a:t> </a:t>
            </a:r>
            <a:r>
              <a:rPr lang="en-US" dirty="0" err="1" smtClean="0"/>
              <a:t>GraphQL</a:t>
            </a:r>
            <a:r>
              <a:rPr lang="en-US" dirty="0" smtClean="0"/>
              <a:t> allows clients to request exactly the data they need and nothing more. Clients can specify the structure of the response, including nested data, which reduces over-fetching (retrieving more data than needed) and under-fetching (not getting enough data) of information.</a:t>
            </a:r>
          </a:p>
          <a:p>
            <a:pPr marL="514350" indent="-514350" algn="just">
              <a:buFont typeface="+mj-lt"/>
              <a:buAutoNum type="arabicPeriod"/>
            </a:pPr>
            <a:r>
              <a:rPr lang="en-US" b="1" dirty="0" smtClean="0"/>
              <a:t>Strongly Typed:</a:t>
            </a:r>
            <a:r>
              <a:rPr lang="en-US" dirty="0" smtClean="0"/>
              <a:t> </a:t>
            </a:r>
            <a:r>
              <a:rPr lang="en-US" dirty="0" err="1" smtClean="0"/>
              <a:t>GraphQL</a:t>
            </a:r>
            <a:r>
              <a:rPr lang="en-US" dirty="0" smtClean="0"/>
              <a:t> APIs are strongly typed, meaning that you define the data types (object types, scalar types, etc.) and their relationships in a schema. This schema serves as a contract between the client and the server, providing a clear and self-documenting way to interact with the API.</a:t>
            </a:r>
          </a:p>
          <a:p>
            <a:pPr marL="514350" indent="-514350" algn="just">
              <a:buFont typeface="+mj-lt"/>
              <a:buAutoNum type="arabicPeriod"/>
            </a:pPr>
            <a:r>
              <a:rPr lang="en-US" b="1" dirty="0" smtClean="0"/>
              <a:t>Single Endpoint:</a:t>
            </a:r>
            <a:r>
              <a:rPr lang="en-US" dirty="0" smtClean="0"/>
              <a:t> Unlike traditional REST APIs that often have multiple endpoints for different resources, </a:t>
            </a:r>
            <a:r>
              <a:rPr lang="en-US" dirty="0" err="1" smtClean="0"/>
              <a:t>GraphQL</a:t>
            </a:r>
            <a:r>
              <a:rPr lang="en-US" dirty="0" smtClean="0"/>
              <a:t> typically has a single endpoint (e.g., /</a:t>
            </a:r>
            <a:r>
              <a:rPr lang="en-US" dirty="0" err="1" smtClean="0"/>
              <a:t>graphql</a:t>
            </a:r>
            <a:r>
              <a:rPr lang="en-US" dirty="0" smtClean="0"/>
              <a:t>) for all API requests. This simplifies the API structure and reduces the number of network requests.</a:t>
            </a:r>
          </a:p>
          <a:p>
            <a:pPr marL="514350" indent="-514350" algn="just">
              <a:buFont typeface="+mj-lt"/>
              <a:buAutoNum type="arabicPeriod"/>
            </a:pPr>
            <a:r>
              <a:rPr lang="en-US" b="1" dirty="0" smtClean="0"/>
              <a:t>Real-time Data:</a:t>
            </a:r>
            <a:r>
              <a:rPr lang="en-US" dirty="0" smtClean="0"/>
              <a:t> </a:t>
            </a:r>
            <a:r>
              <a:rPr lang="en-US" dirty="0" err="1" smtClean="0"/>
              <a:t>GraphQL</a:t>
            </a:r>
            <a:r>
              <a:rPr lang="en-US" dirty="0" smtClean="0"/>
              <a:t> supports real-time data updates using technologies like </a:t>
            </a:r>
            <a:r>
              <a:rPr lang="en-US" dirty="0" err="1" smtClean="0"/>
              <a:t>WebSockets</a:t>
            </a:r>
            <a:r>
              <a:rPr lang="en-US" dirty="0" smtClean="0"/>
              <a:t>. This enables developers to build interactive and live-updating applications, such as chat apps and dashboards.</a:t>
            </a:r>
            <a:endParaRPr lang="en-PH" dirty="0"/>
          </a:p>
        </p:txBody>
      </p:sp>
    </p:spTree>
    <p:extLst>
      <p:ext uri="{BB962C8B-B14F-4D97-AF65-F5344CB8AC3E}">
        <p14:creationId xmlns:p14="http://schemas.microsoft.com/office/powerpoint/2010/main" val="684830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err="1" smtClean="0">
                <a:solidFill>
                  <a:srgbClr val="00B050"/>
                </a:solidFill>
              </a:rPr>
              <a:t>Webhook</a:t>
            </a:r>
            <a:endParaRPr lang="en-PH" sz="4000" b="1" dirty="0">
              <a:solidFill>
                <a:srgbClr val="00B050"/>
              </a:solidFill>
            </a:endParaRPr>
          </a:p>
        </p:txBody>
      </p:sp>
      <p:sp>
        <p:nvSpPr>
          <p:cNvPr id="3" name="Content Placeholder 2"/>
          <p:cNvSpPr>
            <a:spLocks noGrp="1"/>
          </p:cNvSpPr>
          <p:nvPr>
            <p:ph idx="1"/>
          </p:nvPr>
        </p:nvSpPr>
        <p:spPr/>
        <p:txBody>
          <a:bodyPr/>
          <a:lstStyle/>
          <a:p>
            <a:pPr marL="0" indent="0" algn="just">
              <a:buNone/>
            </a:pPr>
            <a:r>
              <a:rPr lang="en-US" dirty="0" smtClean="0"/>
              <a:t>A </a:t>
            </a:r>
            <a:r>
              <a:rPr lang="en-US" b="1" dirty="0" err="1"/>
              <a:t>W</a:t>
            </a:r>
            <a:r>
              <a:rPr lang="en-US" b="1" dirty="0" err="1" smtClean="0"/>
              <a:t>ebhook</a:t>
            </a:r>
            <a:r>
              <a:rPr lang="en-US" dirty="0" smtClean="0"/>
              <a:t> </a:t>
            </a:r>
            <a:r>
              <a:rPr lang="en-US" dirty="0" smtClean="0"/>
              <a:t>is a mechanism that allows one application or system to notify or send data to another application or system in real-time when a specific event or trigger occurs. </a:t>
            </a:r>
            <a:r>
              <a:rPr lang="en-US" b="1" dirty="0" err="1" smtClean="0"/>
              <a:t>Webhooks</a:t>
            </a:r>
            <a:r>
              <a:rPr lang="en-US" dirty="0" smtClean="0"/>
              <a:t> are commonly used in software development and integration to automate processes and enable seamless communication between different services.</a:t>
            </a:r>
            <a:endParaRPr lang="en-PH" dirty="0"/>
          </a:p>
        </p:txBody>
      </p:sp>
    </p:spTree>
    <p:extLst>
      <p:ext uri="{BB962C8B-B14F-4D97-AF65-F5344CB8AC3E}">
        <p14:creationId xmlns:p14="http://schemas.microsoft.com/office/powerpoint/2010/main" val="2908936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1495" y="1371421"/>
            <a:ext cx="6569009" cy="4115157"/>
          </a:xfrm>
          <a:prstGeom prst="rect">
            <a:avLst/>
          </a:prstGeom>
        </p:spPr>
      </p:pic>
    </p:spTree>
    <p:extLst>
      <p:ext uri="{BB962C8B-B14F-4D97-AF65-F5344CB8AC3E}">
        <p14:creationId xmlns:p14="http://schemas.microsoft.com/office/powerpoint/2010/main" val="650002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001"/>
            <a:ext cx="10515600" cy="644691"/>
          </a:xfrm>
        </p:spPr>
        <p:txBody>
          <a:bodyPr>
            <a:normAutofit/>
          </a:bodyPr>
          <a:lstStyle/>
          <a:p>
            <a:r>
              <a:rPr lang="en-US" sz="3600" b="1" dirty="0"/>
              <a:t>Here's how </a:t>
            </a:r>
            <a:r>
              <a:rPr lang="en-US" sz="3600" b="1" dirty="0" err="1" smtClean="0">
                <a:solidFill>
                  <a:srgbClr val="00B050"/>
                </a:solidFill>
              </a:rPr>
              <a:t>W</a:t>
            </a:r>
            <a:r>
              <a:rPr lang="en-US" sz="3600" b="1" dirty="0" err="1" smtClean="0">
                <a:solidFill>
                  <a:srgbClr val="00B050"/>
                </a:solidFill>
              </a:rPr>
              <a:t>ebhooks</a:t>
            </a:r>
            <a:r>
              <a:rPr lang="en-US" sz="3600" b="1" dirty="0" smtClean="0"/>
              <a:t> </a:t>
            </a:r>
            <a:r>
              <a:rPr lang="en-US" sz="3600" b="1" dirty="0"/>
              <a:t>typically work:</a:t>
            </a:r>
            <a:endParaRPr lang="en-PH" sz="3600" b="1" dirty="0"/>
          </a:p>
        </p:txBody>
      </p:sp>
      <p:sp>
        <p:nvSpPr>
          <p:cNvPr id="3" name="Content Placeholder 2"/>
          <p:cNvSpPr>
            <a:spLocks noGrp="1"/>
          </p:cNvSpPr>
          <p:nvPr>
            <p:ph idx="1"/>
          </p:nvPr>
        </p:nvSpPr>
        <p:spPr>
          <a:xfrm>
            <a:off x="683812" y="1041622"/>
            <a:ext cx="10877386" cy="5406886"/>
          </a:xfrm>
        </p:spPr>
        <p:txBody>
          <a:bodyPr>
            <a:noAutofit/>
          </a:bodyPr>
          <a:lstStyle/>
          <a:p>
            <a:pPr marL="514350" indent="-514350" algn="just">
              <a:buFont typeface="+mj-lt"/>
              <a:buAutoNum type="arabicPeriod"/>
            </a:pPr>
            <a:r>
              <a:rPr lang="en-US" sz="2000" b="1" dirty="0" smtClean="0"/>
              <a:t>Event Occurs:</a:t>
            </a:r>
            <a:r>
              <a:rPr lang="en-US" sz="2000" dirty="0" smtClean="0"/>
              <a:t> In the source application or system (the one generating events), a specific event or trigger takes place. This event could be a new user registration, a payment confirmation, a status update, or any other action that you want to monitor or respond to.</a:t>
            </a:r>
          </a:p>
          <a:p>
            <a:pPr marL="514350" indent="-514350" algn="just">
              <a:buFont typeface="+mj-lt"/>
              <a:buAutoNum type="arabicPeriod"/>
            </a:pPr>
            <a:r>
              <a:rPr lang="en-US" sz="2000" b="1" dirty="0" err="1" smtClean="0"/>
              <a:t>Webhook</a:t>
            </a:r>
            <a:r>
              <a:rPr lang="en-US" sz="2000" b="1" dirty="0" smtClean="0"/>
              <a:t> Configuration:</a:t>
            </a:r>
            <a:r>
              <a:rPr lang="en-US" sz="2000" dirty="0" smtClean="0"/>
              <a:t> The source application provides a URL endpoint (usually an HTTP or HTTPS URL) where it will send data when the event occurs. This URL is often referred to as the </a:t>
            </a:r>
            <a:r>
              <a:rPr lang="en-US" sz="2000" dirty="0" err="1" smtClean="0"/>
              <a:t>webhook</a:t>
            </a:r>
            <a:r>
              <a:rPr lang="en-US" sz="2000" dirty="0" smtClean="0"/>
              <a:t> URL or callback URL.</a:t>
            </a:r>
          </a:p>
          <a:p>
            <a:pPr marL="514350" indent="-514350" algn="just">
              <a:buFont typeface="+mj-lt"/>
              <a:buAutoNum type="arabicPeriod"/>
            </a:pPr>
            <a:r>
              <a:rPr lang="en-US" sz="2000" b="1" dirty="0" smtClean="0"/>
              <a:t>Data Payload:</a:t>
            </a:r>
            <a:r>
              <a:rPr lang="en-US" sz="2000" dirty="0" smtClean="0"/>
              <a:t> When the event occurs, the source application assembles a data payload that contains relevant information about the event. This data is typically formatted in a specific way, such as JSON or XML, and may include event details, user information, or any other relevant data.</a:t>
            </a:r>
          </a:p>
          <a:p>
            <a:pPr marL="514350" indent="-514350" algn="just">
              <a:buFont typeface="+mj-lt"/>
              <a:buAutoNum type="arabicPeriod"/>
            </a:pPr>
            <a:r>
              <a:rPr lang="en-US" sz="2000" b="1" dirty="0" smtClean="0"/>
              <a:t>HTTP POST Request:</a:t>
            </a:r>
            <a:r>
              <a:rPr lang="en-US" sz="2000" dirty="0" smtClean="0"/>
              <a:t> The source application sends an HTTP POST request to the </a:t>
            </a:r>
            <a:r>
              <a:rPr lang="en-US" sz="2000" dirty="0" err="1" smtClean="0"/>
              <a:t>webhook</a:t>
            </a:r>
            <a:r>
              <a:rPr lang="en-US" sz="2000" dirty="0" smtClean="0"/>
              <a:t> URL, including the data payload as the request body. This request is made to the server hosting the target application or service.</a:t>
            </a:r>
          </a:p>
          <a:p>
            <a:pPr marL="514350" indent="-514350" algn="just">
              <a:buFont typeface="+mj-lt"/>
              <a:buAutoNum type="arabicPeriod"/>
            </a:pPr>
            <a:r>
              <a:rPr lang="en-US" sz="2000" b="1" dirty="0" smtClean="0"/>
              <a:t>Processing at Target:</a:t>
            </a:r>
            <a:r>
              <a:rPr lang="en-US" sz="2000" dirty="0" smtClean="0"/>
              <a:t> The target application or service receives the HTTP POST request and processes the data payload. This could involve performing actions based on the received data, updating databases, triggering notifications, or any other desired operation.</a:t>
            </a:r>
            <a:endParaRPr lang="en-PH" sz="2000" dirty="0"/>
          </a:p>
        </p:txBody>
      </p:sp>
    </p:spTree>
    <p:extLst>
      <p:ext uri="{BB962C8B-B14F-4D97-AF65-F5344CB8AC3E}">
        <p14:creationId xmlns:p14="http://schemas.microsoft.com/office/powerpoint/2010/main" val="3377895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solidFill>
                  <a:srgbClr val="00B050"/>
                </a:solidFill>
              </a:rPr>
              <a:t>WebSocket</a:t>
            </a:r>
            <a:endParaRPr lang="en-PH" dirty="0">
              <a:solidFill>
                <a:srgbClr val="00B050"/>
              </a:solidFill>
            </a:endParaRPr>
          </a:p>
        </p:txBody>
      </p:sp>
      <p:sp>
        <p:nvSpPr>
          <p:cNvPr id="3" name="Content Placeholder 2"/>
          <p:cNvSpPr>
            <a:spLocks noGrp="1"/>
          </p:cNvSpPr>
          <p:nvPr>
            <p:ph idx="1"/>
          </p:nvPr>
        </p:nvSpPr>
        <p:spPr/>
        <p:txBody>
          <a:bodyPr/>
          <a:lstStyle/>
          <a:p>
            <a:pPr marL="0" indent="0" algn="just">
              <a:buNone/>
            </a:pPr>
            <a:r>
              <a:rPr lang="en-US" b="1" dirty="0" err="1" smtClean="0"/>
              <a:t>WebSocket</a:t>
            </a:r>
            <a:r>
              <a:rPr lang="en-US" dirty="0" smtClean="0"/>
              <a:t> is a communication protocol that provides full-duplex, bidirectional communication channels over a single, long-lived connection. It is designed to work over the same ports as HTTP and HTTPS (ports 80 and 443, respectively) and is often used to enable real-time, interactive communication between a web browser and a web server. </a:t>
            </a:r>
            <a:r>
              <a:rPr lang="en-US" dirty="0" err="1" smtClean="0"/>
              <a:t>WebSocket</a:t>
            </a:r>
            <a:r>
              <a:rPr lang="en-US" dirty="0" smtClean="0"/>
              <a:t> is particularly well-suited for applications that require low latency and high interactivity, such as chat applications, online gaming, live data feeds, and collaborative tools.</a:t>
            </a:r>
            <a:endParaRPr lang="en-PH" dirty="0"/>
          </a:p>
        </p:txBody>
      </p:sp>
    </p:spTree>
    <p:extLst>
      <p:ext uri="{BB962C8B-B14F-4D97-AF65-F5344CB8AC3E}">
        <p14:creationId xmlns:p14="http://schemas.microsoft.com/office/powerpoint/2010/main" val="642539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1927" y="1565748"/>
            <a:ext cx="6988146" cy="3726503"/>
          </a:xfrm>
          <a:prstGeom prst="rect">
            <a:avLst/>
          </a:prstGeom>
        </p:spPr>
      </p:pic>
    </p:spTree>
    <p:extLst>
      <p:ext uri="{BB962C8B-B14F-4D97-AF65-F5344CB8AC3E}">
        <p14:creationId xmlns:p14="http://schemas.microsoft.com/office/powerpoint/2010/main" val="3307434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058"/>
          </a:xfrm>
        </p:spPr>
        <p:txBody>
          <a:bodyPr>
            <a:normAutofit/>
          </a:bodyPr>
          <a:lstStyle/>
          <a:p>
            <a:r>
              <a:rPr lang="en-US" sz="3200" b="1" dirty="0"/>
              <a:t>Key features and characteristics of </a:t>
            </a:r>
            <a:r>
              <a:rPr lang="en-US" sz="3200" b="1" dirty="0" err="1"/>
              <a:t>WebSocket</a:t>
            </a:r>
            <a:r>
              <a:rPr lang="en-US" sz="3200" b="1" dirty="0"/>
              <a:t>:</a:t>
            </a:r>
            <a:endParaRPr lang="en-PH" sz="3200" b="1" dirty="0"/>
          </a:p>
        </p:txBody>
      </p:sp>
      <p:sp>
        <p:nvSpPr>
          <p:cNvPr id="3" name="Content Placeholder 2"/>
          <p:cNvSpPr>
            <a:spLocks noGrp="1"/>
          </p:cNvSpPr>
          <p:nvPr>
            <p:ph idx="1"/>
          </p:nvPr>
        </p:nvSpPr>
        <p:spPr>
          <a:xfrm>
            <a:off x="838200" y="1494845"/>
            <a:ext cx="10515600" cy="4682118"/>
          </a:xfrm>
        </p:spPr>
        <p:txBody>
          <a:bodyPr>
            <a:normAutofit fontScale="85000" lnSpcReduction="20000"/>
          </a:bodyPr>
          <a:lstStyle/>
          <a:p>
            <a:pPr marL="514350" indent="-514350" algn="just">
              <a:buFont typeface="+mj-lt"/>
              <a:buAutoNum type="arabicPeriod"/>
            </a:pPr>
            <a:r>
              <a:rPr lang="en-US" b="1" dirty="0" smtClean="0"/>
              <a:t>Full-Duplex Communication:</a:t>
            </a:r>
            <a:r>
              <a:rPr lang="en-US" dirty="0" smtClean="0"/>
              <a:t> Unlike traditional HTTP, which follows a request-response model where the client sends a request and the server sends a response, </a:t>
            </a:r>
            <a:r>
              <a:rPr lang="en-US" dirty="0" err="1" smtClean="0"/>
              <a:t>WebSocket</a:t>
            </a:r>
            <a:r>
              <a:rPr lang="en-US" dirty="0" smtClean="0"/>
              <a:t> allows for simultaneous two-way communication. Both the client and the server can send messages independently without waiting for a request or response.</a:t>
            </a:r>
          </a:p>
          <a:p>
            <a:pPr marL="514350" indent="-514350" algn="just">
              <a:buFont typeface="+mj-lt"/>
              <a:buAutoNum type="arabicPeriod"/>
            </a:pPr>
            <a:r>
              <a:rPr lang="en-US" b="1" dirty="0" smtClean="0"/>
              <a:t>Low Latency:</a:t>
            </a:r>
            <a:r>
              <a:rPr lang="en-US" dirty="0" smtClean="0"/>
              <a:t> </a:t>
            </a:r>
            <a:r>
              <a:rPr lang="en-US" dirty="0" err="1" smtClean="0"/>
              <a:t>WebSocket</a:t>
            </a:r>
            <a:r>
              <a:rPr lang="en-US" dirty="0" smtClean="0"/>
              <a:t> connections are long-lived, meaning they remain open after the initial handshake, reducing the overhead of repeatedly establishing new connections. This results in lower latency and faster communication compared to HTTP.</a:t>
            </a:r>
          </a:p>
          <a:p>
            <a:pPr marL="514350" indent="-514350" algn="just">
              <a:buFont typeface="+mj-lt"/>
              <a:buAutoNum type="arabicPeriod"/>
            </a:pPr>
            <a:r>
              <a:rPr lang="en-US" b="1" dirty="0" smtClean="0"/>
              <a:t>Efficient:</a:t>
            </a:r>
            <a:r>
              <a:rPr lang="en-US" dirty="0" smtClean="0"/>
              <a:t> </a:t>
            </a:r>
            <a:r>
              <a:rPr lang="en-US" dirty="0" err="1" smtClean="0"/>
              <a:t>WebSocket</a:t>
            </a:r>
            <a:r>
              <a:rPr lang="en-US" dirty="0" smtClean="0"/>
              <a:t> is efficient in terms of network and server resources because it eliminates the need for constant polling or frequent requests. The connection remains open, and data can be sent as soon as it's available.</a:t>
            </a:r>
          </a:p>
          <a:p>
            <a:pPr marL="514350" indent="-514350" algn="just">
              <a:buFont typeface="+mj-lt"/>
              <a:buAutoNum type="arabicPeriod"/>
            </a:pPr>
            <a:r>
              <a:rPr lang="en-US" b="1" dirty="0" smtClean="0"/>
              <a:t>Simple Protocol:</a:t>
            </a:r>
            <a:r>
              <a:rPr lang="en-US" dirty="0" smtClean="0"/>
              <a:t> </a:t>
            </a:r>
            <a:r>
              <a:rPr lang="en-US" dirty="0" err="1" smtClean="0"/>
              <a:t>WebSocket</a:t>
            </a:r>
            <a:r>
              <a:rPr lang="en-US" dirty="0" smtClean="0"/>
              <a:t> is a simple and lightweight protocol. It starts with an initial handshake (based on HTTP) to establish the connection, and once connected, messages can be sent as binary or text data.</a:t>
            </a:r>
            <a:endParaRPr lang="en-PH" dirty="0"/>
          </a:p>
        </p:txBody>
      </p:sp>
    </p:spTree>
    <p:extLst>
      <p:ext uri="{BB962C8B-B14F-4D97-AF65-F5344CB8AC3E}">
        <p14:creationId xmlns:p14="http://schemas.microsoft.com/office/powerpoint/2010/main" val="2846727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058"/>
          </a:xfrm>
        </p:spPr>
        <p:txBody>
          <a:bodyPr>
            <a:normAutofit/>
          </a:bodyPr>
          <a:lstStyle/>
          <a:p>
            <a:r>
              <a:rPr lang="en-US" sz="3200" b="1" dirty="0"/>
              <a:t>Key features and characteristics of </a:t>
            </a:r>
            <a:r>
              <a:rPr lang="en-US" sz="3200" b="1" dirty="0" err="1"/>
              <a:t>WebSocket</a:t>
            </a:r>
            <a:r>
              <a:rPr lang="en-US" sz="3200" b="1" dirty="0"/>
              <a:t>:</a:t>
            </a:r>
            <a:endParaRPr lang="en-PH" sz="3200" b="1" dirty="0"/>
          </a:p>
        </p:txBody>
      </p:sp>
      <p:sp>
        <p:nvSpPr>
          <p:cNvPr id="3" name="Content Placeholder 2"/>
          <p:cNvSpPr>
            <a:spLocks noGrp="1"/>
          </p:cNvSpPr>
          <p:nvPr>
            <p:ph idx="1"/>
          </p:nvPr>
        </p:nvSpPr>
        <p:spPr>
          <a:xfrm>
            <a:off x="838200" y="1494845"/>
            <a:ext cx="10515600" cy="4682118"/>
          </a:xfrm>
        </p:spPr>
        <p:txBody>
          <a:bodyPr>
            <a:normAutofit fontScale="92500" lnSpcReduction="20000"/>
          </a:bodyPr>
          <a:lstStyle/>
          <a:p>
            <a:pPr marL="514350" indent="-514350" algn="just">
              <a:buFont typeface="+mj-lt"/>
              <a:buAutoNum type="arabicPeriod" startAt="5"/>
            </a:pPr>
            <a:r>
              <a:rPr lang="en-US" b="1" dirty="0" smtClean="0"/>
              <a:t>Cross-Domain Communication:</a:t>
            </a:r>
            <a:r>
              <a:rPr lang="en-US" dirty="0" smtClean="0"/>
              <a:t> </a:t>
            </a:r>
            <a:r>
              <a:rPr lang="en-US" dirty="0" err="1" smtClean="0"/>
              <a:t>WebSocket</a:t>
            </a:r>
            <a:r>
              <a:rPr lang="en-US" dirty="0" smtClean="0"/>
              <a:t> allows for cross-origin communication, meaning a web page served from one domain can establish </a:t>
            </a:r>
            <a:r>
              <a:rPr lang="en-US" dirty="0" err="1" smtClean="0"/>
              <a:t>WebSocket</a:t>
            </a:r>
            <a:r>
              <a:rPr lang="en-US" dirty="0" smtClean="0"/>
              <a:t> connections to a server on a different domain. This is achieved through the </a:t>
            </a:r>
            <a:r>
              <a:rPr lang="en-US" dirty="0" err="1" smtClean="0"/>
              <a:t>WebSocket</a:t>
            </a:r>
            <a:r>
              <a:rPr lang="en-US" dirty="0" smtClean="0"/>
              <a:t> protocol's handshake mechanism.</a:t>
            </a:r>
          </a:p>
          <a:p>
            <a:pPr marL="514350" indent="-514350" algn="just">
              <a:buFont typeface="+mj-lt"/>
              <a:buAutoNum type="arabicPeriod" startAt="5"/>
            </a:pPr>
            <a:r>
              <a:rPr lang="en-US" b="1" dirty="0" smtClean="0"/>
              <a:t>Security:</a:t>
            </a:r>
            <a:r>
              <a:rPr lang="en-US" dirty="0" smtClean="0"/>
              <a:t> </a:t>
            </a:r>
            <a:r>
              <a:rPr lang="en-US" dirty="0" err="1" smtClean="0"/>
              <a:t>WebSocket</a:t>
            </a:r>
            <a:r>
              <a:rPr lang="en-US" dirty="0" smtClean="0"/>
              <a:t> connections can be secured using the same mechanisms as HTTP, such as SSL/TLS encryption (wss://), to ensure data privacy and integrity during transmission.</a:t>
            </a:r>
          </a:p>
          <a:p>
            <a:pPr marL="514350" indent="-514350" algn="just">
              <a:buFont typeface="+mj-lt"/>
              <a:buAutoNum type="arabicPeriod" startAt="5"/>
            </a:pPr>
            <a:r>
              <a:rPr lang="en-US" b="1" dirty="0" err="1" smtClean="0"/>
              <a:t>Subprotocols</a:t>
            </a:r>
            <a:r>
              <a:rPr lang="en-US" b="1" dirty="0" smtClean="0"/>
              <a:t>:</a:t>
            </a:r>
            <a:r>
              <a:rPr lang="en-US" dirty="0" smtClean="0"/>
              <a:t> </a:t>
            </a:r>
            <a:r>
              <a:rPr lang="en-US" dirty="0" err="1" smtClean="0"/>
              <a:t>WebSocket</a:t>
            </a:r>
            <a:r>
              <a:rPr lang="en-US" dirty="0" smtClean="0"/>
              <a:t> supports </a:t>
            </a:r>
            <a:r>
              <a:rPr lang="en-US" dirty="0" err="1" smtClean="0"/>
              <a:t>subprotocols</a:t>
            </a:r>
            <a:r>
              <a:rPr lang="en-US" dirty="0" smtClean="0"/>
              <a:t>, which are additional protocols built on top of </a:t>
            </a:r>
            <a:r>
              <a:rPr lang="en-US" dirty="0" err="1" smtClean="0"/>
              <a:t>WebSocket</a:t>
            </a:r>
            <a:r>
              <a:rPr lang="en-US" dirty="0" smtClean="0"/>
              <a:t> that can define specific message formats or behaviors. Examples of </a:t>
            </a:r>
            <a:r>
              <a:rPr lang="en-US" dirty="0" err="1" smtClean="0"/>
              <a:t>subprotocols</a:t>
            </a:r>
            <a:r>
              <a:rPr lang="en-US" dirty="0" smtClean="0"/>
              <a:t> include MQTT over </a:t>
            </a:r>
            <a:r>
              <a:rPr lang="en-US" dirty="0" err="1" smtClean="0"/>
              <a:t>WebSocket</a:t>
            </a:r>
            <a:r>
              <a:rPr lang="en-US" dirty="0" smtClean="0"/>
              <a:t> and STOMP over </a:t>
            </a:r>
            <a:r>
              <a:rPr lang="en-US" dirty="0" err="1" smtClean="0"/>
              <a:t>WebSocket</a:t>
            </a:r>
            <a:r>
              <a:rPr lang="en-US" dirty="0" smtClean="0"/>
              <a:t>.</a:t>
            </a:r>
          </a:p>
          <a:p>
            <a:pPr marL="514350" indent="-514350" algn="just">
              <a:buFont typeface="+mj-lt"/>
              <a:buAutoNum type="arabicPeriod" startAt="5"/>
            </a:pPr>
            <a:r>
              <a:rPr lang="en-US" b="1" dirty="0" smtClean="0"/>
              <a:t>Event-Driven:</a:t>
            </a:r>
            <a:r>
              <a:rPr lang="en-US" dirty="0" smtClean="0"/>
              <a:t> </a:t>
            </a:r>
            <a:r>
              <a:rPr lang="en-US" dirty="0" err="1" smtClean="0"/>
              <a:t>WebSocket</a:t>
            </a:r>
            <a:r>
              <a:rPr lang="en-US" dirty="0" smtClean="0"/>
              <a:t> is event-driven, meaning that applications can define how to handle incoming messages and events, making it well-suited for real-time applications.</a:t>
            </a:r>
            <a:endParaRPr lang="en-PH" dirty="0"/>
          </a:p>
        </p:txBody>
      </p:sp>
    </p:spTree>
    <p:extLst>
      <p:ext uri="{BB962C8B-B14F-4D97-AF65-F5344CB8AC3E}">
        <p14:creationId xmlns:p14="http://schemas.microsoft.com/office/powerpoint/2010/main" val="131892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smtClean="0">
                <a:solidFill>
                  <a:srgbClr val="00B050"/>
                </a:solidFill>
              </a:rPr>
              <a:t>HTTP Streaming</a:t>
            </a:r>
            <a:endParaRPr lang="en-PH" sz="4000" b="1" dirty="0">
              <a:solidFill>
                <a:srgbClr val="00B050"/>
              </a:solidFill>
            </a:endParaRPr>
          </a:p>
        </p:txBody>
      </p:sp>
      <p:sp>
        <p:nvSpPr>
          <p:cNvPr id="3" name="Content Placeholder 2"/>
          <p:cNvSpPr>
            <a:spLocks noGrp="1"/>
          </p:cNvSpPr>
          <p:nvPr>
            <p:ph idx="1"/>
          </p:nvPr>
        </p:nvSpPr>
        <p:spPr/>
        <p:txBody>
          <a:bodyPr/>
          <a:lstStyle/>
          <a:p>
            <a:pPr marL="0" indent="0" algn="just">
              <a:buNone/>
            </a:pPr>
            <a:r>
              <a:rPr lang="en-US" b="1" dirty="0" smtClean="0"/>
              <a:t>HTTP streaming</a:t>
            </a:r>
            <a:r>
              <a:rPr lang="en-US" dirty="0" smtClean="0"/>
              <a:t>, often referred to as HTTP-based streaming, is a method of delivering multimedia content, such as audio or video, over the Hypertext Transfer Protocol (HTTP). It allows the content to be delivered continuously and played in real-time as it's received by the client, rather than waiting for the entire file to download before playback begins. HTTP streaming is a fundamental technology for delivering live and on-demand multimedia content over the internet.</a:t>
            </a:r>
            <a:endParaRPr lang="en-PH" dirty="0"/>
          </a:p>
        </p:txBody>
      </p:sp>
    </p:spTree>
    <p:extLst>
      <p:ext uri="{BB962C8B-B14F-4D97-AF65-F5344CB8AC3E}">
        <p14:creationId xmlns:p14="http://schemas.microsoft.com/office/powerpoint/2010/main" val="4067083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9531" y="1600041"/>
            <a:ext cx="7132938" cy="3657917"/>
          </a:xfrm>
          <a:prstGeom prst="rect">
            <a:avLst/>
          </a:prstGeom>
        </p:spPr>
      </p:pic>
    </p:spTree>
    <p:extLst>
      <p:ext uri="{BB962C8B-B14F-4D97-AF65-F5344CB8AC3E}">
        <p14:creationId xmlns:p14="http://schemas.microsoft.com/office/powerpoint/2010/main" val="4225126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There are several key approaches to HTTP streaming:</a:t>
            </a:r>
            <a:endParaRPr lang="en-PH" sz="3600" b="1"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1. HTTP Live Streaming (HLS):</a:t>
            </a:r>
          </a:p>
          <a:p>
            <a:pPr algn="just">
              <a:buClr>
                <a:schemeClr val="accent2"/>
              </a:buClr>
              <a:buFont typeface="Wingdings" panose="05000000000000000000" pitchFamily="2" charset="2"/>
              <a:buChar char="ü"/>
            </a:pPr>
            <a:r>
              <a:rPr lang="en-US" dirty="0" smtClean="0"/>
              <a:t>HLS is a streaming protocol developed by Apple. It segments multimedia content into small, discrete chunks (typically 10 seconds) and serves these segments via standard HTTP web servers.</a:t>
            </a:r>
          </a:p>
          <a:p>
            <a:pPr algn="just">
              <a:buClr>
                <a:schemeClr val="accent2"/>
              </a:buClr>
              <a:buFont typeface="Wingdings" panose="05000000000000000000" pitchFamily="2" charset="2"/>
              <a:buChar char="ü"/>
            </a:pPr>
            <a:r>
              <a:rPr lang="en-US" dirty="0" smtClean="0"/>
              <a:t>The client (e.g., a web browser or mobile app) periodically requests and downloads these segments and plays them in sequence. It allows adaptive streaming, meaning the client can switch between different quality levels based on available network bandwidth and device capabilities.</a:t>
            </a:r>
          </a:p>
          <a:p>
            <a:pPr algn="just">
              <a:buClr>
                <a:schemeClr val="accent2"/>
              </a:buClr>
              <a:buFont typeface="Wingdings" panose="05000000000000000000" pitchFamily="2" charset="2"/>
              <a:buChar char="ü"/>
            </a:pPr>
            <a:r>
              <a:rPr lang="en-US" dirty="0" smtClean="0"/>
              <a:t>HLS is widely used for live streaming and video-on-demand services, and it's supported on various platforms, including iOS devices, web browsers, and Android with the help of third-party players.</a:t>
            </a:r>
            <a:endParaRPr lang="en-PH" dirty="0"/>
          </a:p>
        </p:txBody>
      </p:sp>
    </p:spTree>
    <p:extLst>
      <p:ext uri="{BB962C8B-B14F-4D97-AF65-F5344CB8AC3E}">
        <p14:creationId xmlns:p14="http://schemas.microsoft.com/office/powerpoint/2010/main" val="1332914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There are several key approaches to HTTP streaming:</a:t>
            </a:r>
            <a:endParaRPr lang="en-PH" sz="3600" b="1" dirty="0"/>
          </a:p>
        </p:txBody>
      </p:sp>
      <p:sp>
        <p:nvSpPr>
          <p:cNvPr id="3" name="Content Placeholder 2"/>
          <p:cNvSpPr>
            <a:spLocks noGrp="1"/>
          </p:cNvSpPr>
          <p:nvPr>
            <p:ph idx="1"/>
          </p:nvPr>
        </p:nvSpPr>
        <p:spPr/>
        <p:txBody>
          <a:bodyPr>
            <a:normAutofit/>
          </a:bodyPr>
          <a:lstStyle/>
          <a:p>
            <a:pPr marL="0" indent="0">
              <a:buNone/>
            </a:pPr>
            <a:r>
              <a:rPr lang="en-US" b="1" i="0" dirty="0" smtClean="0">
                <a:solidFill>
                  <a:srgbClr val="374151"/>
                </a:solidFill>
                <a:effectLst/>
                <a:latin typeface="Söhne"/>
              </a:rPr>
              <a:t>2. Dynamic Adaptive Streaming over HTTP (DASH)</a:t>
            </a:r>
            <a:r>
              <a:rPr lang="en-US" b="0" i="0" dirty="0" smtClean="0">
                <a:solidFill>
                  <a:srgbClr val="374151"/>
                </a:solidFill>
                <a:effectLst/>
                <a:latin typeface="Söhne"/>
              </a:rPr>
              <a:t>:</a:t>
            </a:r>
          </a:p>
          <a:p>
            <a:pPr algn="just">
              <a:buClr>
                <a:schemeClr val="accent2"/>
              </a:buClr>
              <a:buFont typeface="Wingdings" panose="05000000000000000000" pitchFamily="2" charset="2"/>
              <a:buChar char="ü"/>
            </a:pPr>
            <a:r>
              <a:rPr lang="en-US" sz="2400" b="0" i="0" dirty="0" smtClean="0">
                <a:solidFill>
                  <a:srgbClr val="374151"/>
                </a:solidFill>
                <a:effectLst/>
                <a:latin typeface="Söhne"/>
              </a:rPr>
              <a:t>DASH is an open standard developed by the Moving Picture Experts Group (MPEG). It works similarly to HLS but is designed to be more flexible and codec-agnostic.</a:t>
            </a:r>
          </a:p>
          <a:p>
            <a:pPr algn="just">
              <a:buClr>
                <a:schemeClr val="accent2"/>
              </a:buClr>
              <a:buFont typeface="Wingdings" panose="05000000000000000000" pitchFamily="2" charset="2"/>
              <a:buChar char="ü"/>
            </a:pPr>
            <a:r>
              <a:rPr lang="en-US" sz="2400" b="0" i="0" dirty="0" smtClean="0">
                <a:solidFill>
                  <a:srgbClr val="374151"/>
                </a:solidFill>
                <a:effectLst/>
                <a:latin typeface="Söhne"/>
              </a:rPr>
              <a:t>DASH divides the content into small segments and offers multiple quality levels. It allows the client to adaptively switch between these levels based on network conditions.</a:t>
            </a:r>
          </a:p>
          <a:p>
            <a:pPr algn="just">
              <a:buClr>
                <a:schemeClr val="accent2"/>
              </a:buClr>
              <a:buFont typeface="Wingdings" panose="05000000000000000000" pitchFamily="2" charset="2"/>
              <a:buChar char="ü"/>
            </a:pPr>
            <a:r>
              <a:rPr lang="en-US" sz="2400" b="0" i="0" dirty="0" smtClean="0">
                <a:solidFill>
                  <a:srgbClr val="374151"/>
                </a:solidFill>
                <a:effectLst/>
                <a:latin typeface="Söhne"/>
              </a:rPr>
              <a:t>DASH is supported by various media players and streaming services, making it a versatile option for HTTP streaming.</a:t>
            </a:r>
          </a:p>
          <a:p>
            <a:pPr marL="0" indent="0">
              <a:buNone/>
            </a:pPr>
            <a:endParaRPr lang="en-PH" dirty="0"/>
          </a:p>
        </p:txBody>
      </p:sp>
    </p:spTree>
    <p:extLst>
      <p:ext uri="{BB962C8B-B14F-4D97-AF65-F5344CB8AC3E}">
        <p14:creationId xmlns:p14="http://schemas.microsoft.com/office/powerpoint/2010/main" val="3431562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There are several key approaches to HTTP streaming:</a:t>
            </a:r>
            <a:endParaRPr lang="en-PH" sz="3600" b="1" dirty="0"/>
          </a:p>
        </p:txBody>
      </p:sp>
      <p:sp>
        <p:nvSpPr>
          <p:cNvPr id="3" name="Content Placeholder 2"/>
          <p:cNvSpPr>
            <a:spLocks noGrp="1"/>
          </p:cNvSpPr>
          <p:nvPr>
            <p:ph idx="1"/>
          </p:nvPr>
        </p:nvSpPr>
        <p:spPr/>
        <p:txBody>
          <a:bodyPr>
            <a:normAutofit fontScale="92500"/>
          </a:bodyPr>
          <a:lstStyle/>
          <a:p>
            <a:pPr marL="0" indent="0">
              <a:buNone/>
            </a:pPr>
            <a:r>
              <a:rPr lang="en-PH" b="1" i="0" dirty="0" smtClean="0">
                <a:solidFill>
                  <a:srgbClr val="374151"/>
                </a:solidFill>
                <a:effectLst/>
                <a:latin typeface="Söhne"/>
              </a:rPr>
              <a:t>3. Smooth Streaming (Microsoft)</a:t>
            </a:r>
            <a:r>
              <a:rPr lang="en-PH" b="0" i="0" dirty="0" smtClean="0">
                <a:solidFill>
                  <a:srgbClr val="374151"/>
                </a:solidFill>
                <a:effectLst/>
                <a:latin typeface="Söhne"/>
              </a:rPr>
              <a:t>:</a:t>
            </a:r>
          </a:p>
          <a:p>
            <a:pPr lvl="1" algn="just">
              <a:buClr>
                <a:schemeClr val="accent2"/>
              </a:buClr>
              <a:buFont typeface="Wingdings" panose="05000000000000000000" pitchFamily="2" charset="2"/>
              <a:buChar char="ü"/>
            </a:pPr>
            <a:r>
              <a:rPr lang="en-PH" b="0" i="0" dirty="0" smtClean="0">
                <a:solidFill>
                  <a:srgbClr val="374151"/>
                </a:solidFill>
                <a:effectLst/>
                <a:latin typeface="Söhne"/>
              </a:rPr>
              <a:t>Smooth Streaming is Microsoft's HTTP-based streaming protocol. It also segments content into small chunks, and clients can request different quality levels.</a:t>
            </a:r>
          </a:p>
          <a:p>
            <a:pPr lvl="1" algn="just">
              <a:buClr>
                <a:schemeClr val="accent2"/>
              </a:buClr>
              <a:buFont typeface="Wingdings" panose="05000000000000000000" pitchFamily="2" charset="2"/>
              <a:buChar char="ü"/>
            </a:pPr>
            <a:r>
              <a:rPr lang="en-PH" b="0" i="0" dirty="0" smtClean="0">
                <a:solidFill>
                  <a:srgbClr val="374151"/>
                </a:solidFill>
                <a:effectLst/>
                <a:latin typeface="Söhne"/>
              </a:rPr>
              <a:t>It's commonly used for streaming video content in Microsoft's ecosystem, including Silverlight applications and Azure Media Services.</a:t>
            </a:r>
          </a:p>
          <a:p>
            <a:pPr marL="0" indent="0">
              <a:buNone/>
            </a:pPr>
            <a:r>
              <a:rPr lang="en-PH" b="1" i="0" dirty="0" smtClean="0">
                <a:solidFill>
                  <a:srgbClr val="374151"/>
                </a:solidFill>
                <a:effectLst/>
                <a:latin typeface="Söhne"/>
              </a:rPr>
              <a:t>4. MPEG-DASH (ISO/IEC 23009-1)</a:t>
            </a:r>
            <a:r>
              <a:rPr lang="en-PH" b="0" i="0" dirty="0" smtClean="0">
                <a:solidFill>
                  <a:srgbClr val="374151"/>
                </a:solidFill>
                <a:effectLst/>
                <a:latin typeface="Söhne"/>
              </a:rPr>
              <a:t>:</a:t>
            </a:r>
          </a:p>
          <a:p>
            <a:pPr lvl="1">
              <a:buClr>
                <a:schemeClr val="accent2"/>
              </a:buClr>
              <a:buFont typeface="Wingdings" panose="05000000000000000000" pitchFamily="2" charset="2"/>
              <a:buChar char="ü"/>
            </a:pPr>
            <a:r>
              <a:rPr lang="en-PH" b="0" i="0" dirty="0" smtClean="0">
                <a:solidFill>
                  <a:srgbClr val="374151"/>
                </a:solidFill>
                <a:effectLst/>
                <a:latin typeface="Söhne"/>
              </a:rPr>
              <a:t>MPEG-DASH is an international standard for adaptive streaming over HTTP. It aims to standardize the adaptive streaming experience across different devices and platforms.</a:t>
            </a:r>
          </a:p>
          <a:p>
            <a:pPr lvl="1">
              <a:buClr>
                <a:schemeClr val="accent2"/>
              </a:buClr>
              <a:buFont typeface="Wingdings" panose="05000000000000000000" pitchFamily="2" charset="2"/>
              <a:buChar char="ü"/>
            </a:pPr>
            <a:r>
              <a:rPr lang="en-PH" b="0" i="0" dirty="0" smtClean="0">
                <a:solidFill>
                  <a:srgbClr val="374151"/>
                </a:solidFill>
                <a:effectLst/>
                <a:latin typeface="Söhne"/>
              </a:rPr>
              <a:t>Similar to HLS and DASH, MPEG-DASH divides content into segments and provides various quality levels for adaptive streaming.</a:t>
            </a:r>
          </a:p>
          <a:p>
            <a:pPr marL="0" indent="0">
              <a:buNone/>
            </a:pPr>
            <a:endParaRPr lang="en-PH" dirty="0"/>
          </a:p>
        </p:txBody>
      </p:sp>
    </p:spTree>
    <p:extLst>
      <p:ext uri="{BB962C8B-B14F-4D97-AF65-F5344CB8AC3E}">
        <p14:creationId xmlns:p14="http://schemas.microsoft.com/office/powerpoint/2010/main" val="253968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2001</Words>
  <Application>Microsoft Office PowerPoint</Application>
  <PresentationFormat>Widescreen</PresentationFormat>
  <Paragraphs>69</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Söhne</vt:lpstr>
      <vt:lpstr>Wingdings</vt:lpstr>
      <vt:lpstr>Office Theme</vt:lpstr>
      <vt:lpstr>PowerPoint Presentation</vt:lpstr>
      <vt:lpstr>PowerPoint Presentation</vt:lpstr>
      <vt:lpstr>PowerPoint Presentation</vt:lpstr>
      <vt:lpstr>Key points about APIs!</vt:lpstr>
      <vt:lpstr>Key points about APIs!</vt:lpstr>
      <vt:lpstr>Key points about APIs!</vt:lpstr>
      <vt:lpstr>REST API Representational State Transfer</vt:lpstr>
      <vt:lpstr>PowerPoint Presentation</vt:lpstr>
      <vt:lpstr>RPC  Remote Procedure Call</vt:lpstr>
      <vt:lpstr>PowerPoint Presentation</vt:lpstr>
      <vt:lpstr>GraphQL</vt:lpstr>
      <vt:lpstr>PowerPoint Presentation</vt:lpstr>
      <vt:lpstr>Here are some key characteristics and concepts related to GraphQL:</vt:lpstr>
      <vt:lpstr>Webhook</vt:lpstr>
      <vt:lpstr>PowerPoint Presentation</vt:lpstr>
      <vt:lpstr>Here's how Webhooks typically work:</vt:lpstr>
      <vt:lpstr>WebSocket</vt:lpstr>
      <vt:lpstr>PowerPoint Presentation</vt:lpstr>
      <vt:lpstr>Key features and characteristics of WebSocket:</vt:lpstr>
      <vt:lpstr>Key features and characteristics of WebSocket:</vt:lpstr>
      <vt:lpstr>HTTP Streaming</vt:lpstr>
      <vt:lpstr>PowerPoint Presentation</vt:lpstr>
      <vt:lpstr>There are several key approaches to HTTP streaming:</vt:lpstr>
      <vt:lpstr>There are several key approaches to HTTP streaming:</vt:lpstr>
      <vt:lpstr>There are several key approaches to HTTP streaming: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jheri</dc:creator>
  <cp:lastModifiedBy>jheri</cp:lastModifiedBy>
  <cp:revision>11</cp:revision>
  <dcterms:created xsi:type="dcterms:W3CDTF">2023-09-16T01:40:42Z</dcterms:created>
  <dcterms:modified xsi:type="dcterms:W3CDTF">2024-10-30T03:43:00Z</dcterms:modified>
</cp:coreProperties>
</file>